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A1A2E"/>
                </a:solidFill>
                <a:latin typeface="Calibri"/>
              </a:defRPr>
            </a:pPr>
            <a:r>
              <a:t>GQA Decode on WSE-3 — Problem Statement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6012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1B5E8A"/>
                </a:solidFill>
                <a:latin typeface="Calibri"/>
              </a:defRPr>
            </a:pPr>
            <a:r>
              <a:t>WSE-3 decode kernel lacks multi-head attention support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53035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  <a:defRPr sz="1800" b="1">
                <a:solidFill>
                  <a:srgbClr val="1B5E8A"/>
                </a:solidFill>
                <a:latin typeface="Calibri"/>
              </a:defRPr>
            </a:pPr>
            <a:r>
              <a:t>Current State (Broken)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500" b="0">
                <a:solidFill>
                  <a:srgbClr val="2D2D3D"/>
                </a:solidFill>
                <a:latin typeface="Calibri"/>
              </a:defRPr>
            </a:pPr>
          </a:p>
          <a:p>
            <a:pPr algn="l">
              <a:spcBef>
                <a:spcPts val="400"/>
              </a:spcBef>
              <a:spcAft>
                <a:spcPts val="200"/>
              </a:spcAft>
              <a:defRPr sz="1400" b="0">
                <a:solidFill>
                  <a:srgbClr val="2D2D3D"/>
                </a:solidFill>
                <a:latin typeface="Calibri"/>
              </a:defRPr>
            </a:pPr>
            <a:r>
              <a:t>  •  Score X-reduce sums across ALL P PEs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300" b="0">
                <a:solidFill>
                  <a:srgbClr val="C03030"/>
                </a:solidFill>
                <a:latin typeface="Calibri"/>
              </a:defRPr>
            </a:pPr>
            <a:r>
              <a:t>     → mixes partial scores from different heads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500" b="0">
                <a:solidFill>
                  <a:srgbClr val="2D2D3D"/>
                </a:solidFill>
                <a:latin typeface="Calibri"/>
              </a:defRPr>
            </a:pPr>
          </a:p>
          <a:p>
            <a:pPr algn="l">
              <a:spcBef>
                <a:spcPts val="400"/>
              </a:spcBef>
              <a:spcAft>
                <a:spcPts val="200"/>
              </a:spcAft>
              <a:defRPr sz="1400" b="0">
                <a:solidFill>
                  <a:srgbClr val="2D2D3D"/>
                </a:solidFill>
                <a:latin typeface="Calibri"/>
              </a:defRPr>
            </a:pPr>
            <a:r>
              <a:t>  •  n_heads, pes_p_head params exist but are dead code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500" b="0">
                <a:solidFill>
                  <a:srgbClr val="2D2D3D"/>
                </a:solidFill>
                <a:latin typeface="Calibri"/>
              </a:defRPr>
            </a:pPr>
          </a:p>
          <a:p>
            <a:pPr algn="l">
              <a:spcBef>
                <a:spcPts val="400"/>
              </a:spcBef>
              <a:spcAft>
                <a:spcPts val="200"/>
              </a:spcAft>
              <a:defRPr sz="1400" b="0">
                <a:solidFill>
                  <a:srgbClr val="2D2D3D"/>
                </a:solidFill>
                <a:latin typeface="Calibri"/>
              </a:defRPr>
            </a:pPr>
            <a:r>
              <a:t>  •  K/V weights always [dim, dim] — no per-head shapes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500" b="0">
                <a:solidFill>
                  <a:srgbClr val="2D2D3D"/>
                </a:solidFill>
                <a:latin typeface="Calibri"/>
              </a:defRPr>
            </a:pPr>
          </a:p>
          <a:p>
            <a:pPr algn="l">
              <a:spcBef>
                <a:spcPts val="400"/>
              </a:spcBef>
              <a:spcAft>
                <a:spcPts val="200"/>
              </a:spcAft>
              <a:defRPr sz="1400" b="0">
                <a:solidFill>
                  <a:srgbClr val="2D2D3D"/>
                </a:solidFill>
                <a:latin typeface="Calibri"/>
              </a:defRPr>
            </a:pPr>
            <a:r>
              <a:t>  •  comm library ignores head count entirely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500" b="0">
                <a:solidFill>
                  <a:srgbClr val="2D2D3D"/>
                </a:solidFill>
                <a:latin typeface="Calibri"/>
              </a:defRPr>
            </a:pPr>
          </a:p>
          <a:p>
            <a:pPr algn="l">
              <a:spcBef>
                <a:spcPts val="400"/>
              </a:spcBef>
              <a:spcAft>
                <a:spcPts val="200"/>
              </a:spcAft>
              <a:defRPr sz="1800" b="1">
                <a:solidFill>
                  <a:srgbClr val="0E7C6B"/>
                </a:solidFill>
                <a:latin typeface="Calibri"/>
              </a:defRPr>
            </a:pPr>
            <a:r>
              <a:t>Goal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500" b="0">
                <a:solidFill>
                  <a:srgbClr val="2D2D3D"/>
                </a:solidFill>
                <a:latin typeface="Calibri"/>
              </a:defRPr>
            </a:pPr>
          </a:p>
          <a:p>
            <a:pPr algn="l">
              <a:spcBef>
                <a:spcPts val="400"/>
              </a:spcBef>
              <a:spcAft>
                <a:spcPts val="200"/>
              </a:spcAft>
              <a:defRPr sz="1400" b="0">
                <a:solidFill>
                  <a:srgbClr val="2D2D3D"/>
                </a:solidFill>
                <a:latin typeface="Calibri"/>
              </a:defRPr>
            </a:pPr>
            <a:r>
              <a:t>  Enable GQA (n_kv_heads &lt; n_heads) with compact KV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400" b="0">
                <a:solidFill>
                  <a:srgbClr val="2D2D3D"/>
                </a:solidFill>
                <a:latin typeface="Calibri"/>
              </a:defRPr>
            </a:pPr>
            <a:r>
              <a:t>  cache and zero runtime Q-alignment overhead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583680" y="1463040"/>
            <a:ext cx="4846320" cy="3840480"/>
          </a:xfrm>
          <a:prstGeom prst="roundRect">
            <a:avLst/>
          </a:prstGeom>
          <a:solidFill>
            <a:srgbClr val="F4F6FA"/>
          </a:solidFill>
          <a:ln w="19050">
            <a:solidFill>
              <a:srgbClr val="1B5E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766560" y="1645920"/>
            <a:ext cx="45720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  <a:defRPr sz="1600" b="1">
                <a:solidFill>
                  <a:srgbClr val="1B5E8A"/>
                </a:solidFill>
                <a:latin typeface="Calibri"/>
              </a:defRPr>
            </a:pPr>
            <a:r>
              <a:t>PE Grid (P=8, n_heads=2)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500" b="0">
                <a:solidFill>
                  <a:srgbClr val="2D2D3D"/>
                </a:solidFill>
                <a:latin typeface="Calibri"/>
              </a:defRPr>
            </a:pPr>
          </a:p>
          <a:p>
            <a:pPr algn="l">
              <a:spcBef>
                <a:spcPts val="400"/>
              </a:spcBef>
              <a:spcAft>
                <a:spcPts val="200"/>
              </a:spcAft>
              <a:defRPr sz="1300" b="0">
                <a:solidFill>
                  <a:srgbClr val="6B7280"/>
                </a:solidFill>
                <a:latin typeface="Consolas"/>
              </a:defRPr>
            </a:pPr>
            <a:r>
              <a:t>  X-axis: partitions dim    Y-axis: partitions seq_len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500" b="0">
                <a:solidFill>
                  <a:srgbClr val="2D2D3D"/>
                </a:solidFill>
                <a:latin typeface="Calibri"/>
              </a:defRPr>
            </a:pPr>
          </a:p>
          <a:p>
            <a:pPr algn="l">
              <a:spcBef>
                <a:spcPts val="400"/>
              </a:spcBef>
              <a:spcAft>
                <a:spcPts val="200"/>
              </a:spcAft>
              <a:defRPr sz="1300" b="0">
                <a:solidFill>
                  <a:srgbClr val="2D2D3D"/>
                </a:solidFill>
                <a:latin typeface="Consolas"/>
              </a:defRPr>
            </a:pPr>
            <a:r>
              <a:t>  X-axis: [px=0  px=1  px=2  px=3] [px=4  px=5  px=6  px=7]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300" b="0">
                <a:solidFill>
                  <a:srgbClr val="1B5E8A"/>
                </a:solidFill>
                <a:latin typeface="Consolas"/>
              </a:defRPr>
            </a:pPr>
            <a:r>
              <a:t>           ────────────────────   ────────────────────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300" b="0">
                <a:solidFill>
                  <a:srgbClr val="0E7C6B"/>
                </a:solidFill>
                <a:latin typeface="Consolas"/>
              </a:defRPr>
            </a:pPr>
            <a:r>
              <a:t>                Head 0                    Head 1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300" b="0">
                <a:solidFill>
                  <a:srgbClr val="0E7C6B"/>
                </a:solidFill>
                <a:latin typeface="Consolas"/>
              </a:defRPr>
            </a:pPr>
            <a:r>
              <a:t>           4 PEs, X-reduce         4 PEs, X-reduce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300" b="0">
                <a:solidFill>
                  <a:srgbClr val="0E7C6B"/>
                </a:solidFill>
                <a:latin typeface="Consolas"/>
              </a:defRPr>
            </a:pPr>
            <a:r>
              <a:t>           within this block        within this block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500" b="0">
                <a:solidFill>
                  <a:srgbClr val="2D2D3D"/>
                </a:solidFill>
                <a:latin typeface="Calibri"/>
              </a:defRPr>
            </a:pPr>
          </a:p>
          <a:p>
            <a:pPr algn="l">
              <a:spcBef>
                <a:spcPts val="400"/>
              </a:spcBef>
              <a:spcAft>
                <a:spcPts val="200"/>
              </a:spcAft>
              <a:defRPr sz="1400" b="0">
                <a:solidFill>
                  <a:srgbClr val="1E8C45"/>
                </a:solidFill>
                <a:latin typeface="Calibri"/>
              </a:defRPr>
            </a:pPr>
            <a:r>
              <a:t>  Correct reduce: scoped to pes_p_head PEs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400" b="0">
                <a:solidFill>
                  <a:srgbClr val="C03030"/>
                </a:solidFill>
                <a:latin typeface="Calibri"/>
              </a:defRPr>
            </a:pPr>
            <a:r>
              <a:t>  Current reduce: all P PEs → WRONG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03504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B7280"/>
                </a:solidFill>
                <a:latin typeface="Calibri"/>
              </a:defRPr>
            </a:pPr>
            <a:r>
              <a:t>WaferLLM — GQA Decode Design  •  WSE-3-GQA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A1A2E"/>
                </a:solidFill>
                <a:latin typeface="Calibri"/>
              </a:defRPr>
            </a:pPr>
            <a:r>
              <a:t>Three-Phase Implementation Plan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371600"/>
            <a:ext cx="3383280" cy="3474720"/>
          </a:xfrm>
          <a:prstGeom prst="roundRect">
            <a:avLst/>
          </a:prstGeom>
          <a:solidFill>
            <a:srgbClr val="F4F6FA"/>
          </a:solidFill>
          <a:ln w="19050">
            <a:solidFill>
              <a:srgbClr val="1B5E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508760"/>
            <a:ext cx="30175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  <a:defRPr sz="1600" b="1">
                <a:solidFill>
                  <a:srgbClr val="1B5E8A"/>
                </a:solidFill>
                <a:latin typeface="Calibri"/>
              </a:defRPr>
            </a:pPr>
            <a:r>
              <a:t>Phase 1: MHA  (n_heads &gt; 1)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500" b="0">
                <a:solidFill>
                  <a:srgbClr val="2D2D3D"/>
                </a:solidFill>
                <a:latin typeface="Calibri"/>
              </a:defRPr>
            </a:pPr>
          </a:p>
          <a:p>
            <a:pPr algn="l">
              <a:spcBef>
                <a:spcPts val="400"/>
              </a:spcBef>
              <a:spcAft>
                <a:spcPts val="200"/>
              </a:spcAft>
              <a:defRPr sz="1200" b="0">
                <a:solidFill>
                  <a:srgbClr val="2D2D3D"/>
                </a:solidFill>
                <a:latin typeface="Calibri"/>
              </a:defRPr>
            </a:pPr>
            <a:r>
              <a:t>  •  Head-scoped score reduce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500" b="0">
                <a:solidFill>
                  <a:srgbClr val="2D2D3D"/>
                </a:solidFill>
                <a:latin typeface="Calibri"/>
              </a:defRPr>
            </a:pPr>
          </a:p>
          <a:p>
            <a:pPr algn="l">
              <a:spcBef>
                <a:spcPts val="400"/>
              </a:spcBef>
              <a:spcAft>
                <a:spcPts val="200"/>
              </a:spcAft>
              <a:defRPr sz="1200" b="0">
                <a:solidFill>
                  <a:srgbClr val="2D2D3D"/>
                </a:solidFill>
                <a:latin typeface="Calibri"/>
              </a:defRPr>
            </a:pPr>
            <a:r>
              <a:t>  •  New axis=2 route config: X_HEAD_2nd_RD_*, X_HEAD_BD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500" b="0">
                <a:solidFill>
                  <a:srgbClr val="2D2D3D"/>
                </a:solidFill>
                <a:latin typeface="Calibri"/>
              </a:defRPr>
            </a:pPr>
          </a:p>
          <a:p>
            <a:pPr algn="l">
              <a:spcBef>
                <a:spcPts val="400"/>
              </a:spcBef>
              <a:spcAft>
                <a:spcPts val="200"/>
              </a:spcAft>
              <a:defRPr sz="1200" b="0">
                <a:solidFill>
                  <a:srgbClr val="2D2D3D"/>
                </a:solidFill>
                <a:latin typeface="Calibri"/>
              </a:defRPr>
            </a:pPr>
            <a:r>
              <a:t>  •  Limits X-reduce to pes_p_head = P/n_heads PEs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500" b="0">
                <a:solidFill>
                  <a:srgbClr val="2D2D3D"/>
                </a:solidFill>
                <a:latin typeface="Calibri"/>
              </a:defRPr>
            </a:pPr>
          </a:p>
          <a:p>
            <a:pPr algn="l">
              <a:spcBef>
                <a:spcPts val="400"/>
              </a:spcBef>
              <a:spcAft>
                <a:spcPts val="200"/>
              </a:spcAft>
              <a:defRPr sz="1200" b="0">
                <a:solidFill>
                  <a:srgbClr val="0E7C6B"/>
                </a:solidFill>
                <a:latin typeface="Calibri"/>
              </a:defRPr>
            </a:pPr>
            <a:r>
              <a:t>  •  New fn: all_reduce_bsz_seq_len_head_scoped()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500" b="0">
                <a:solidFill>
                  <a:srgbClr val="2D2D3D"/>
                </a:solidFill>
                <a:latin typeface="Calibri"/>
              </a:defRPr>
            </a:pPr>
          </a:p>
          <a:p>
            <a:pPr algn="l">
              <a:spcBef>
                <a:spcPts val="400"/>
              </a:spcBef>
              <a:spcAft>
                <a:spcPts val="200"/>
              </a:spcAft>
              <a:defRPr sz="1200" b="0">
                <a:solidFill>
                  <a:srgbClr val="B87308"/>
                </a:solidFill>
                <a:latin typeface="Calibri"/>
              </a:defRPr>
            </a:pPr>
            <a:r>
              <a:t>  •  Constraint: n_heads | group_num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251960" y="1371600"/>
            <a:ext cx="3383280" cy="3474720"/>
          </a:xfrm>
          <a:prstGeom prst="roundRect">
            <a:avLst/>
          </a:prstGeom>
          <a:solidFill>
            <a:srgbClr val="F4F6FA"/>
          </a:solidFill>
          <a:ln w="19050">
            <a:solidFill>
              <a:srgbClr val="1B5E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434840" y="1508760"/>
            <a:ext cx="30175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  <a:defRPr sz="1600" b="1">
                <a:solidFill>
                  <a:srgbClr val="1B5E8A"/>
                </a:solidFill>
                <a:latin typeface="Calibri"/>
              </a:defRPr>
            </a:pPr>
            <a:r>
              <a:t>Phase 2: GQA + Option C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500" b="0">
                <a:solidFill>
                  <a:srgbClr val="2D2D3D"/>
                </a:solidFill>
                <a:latin typeface="Calibri"/>
              </a:defRPr>
            </a:pPr>
          </a:p>
          <a:p>
            <a:pPr algn="l">
              <a:spcBef>
                <a:spcPts val="400"/>
              </a:spcBef>
              <a:spcAft>
                <a:spcPts val="200"/>
              </a:spcAft>
              <a:defRPr sz="1200" b="0">
                <a:solidFill>
                  <a:srgbClr val="2D2D3D"/>
                </a:solidFill>
                <a:latin typeface="Calibri"/>
              </a:defRPr>
            </a:pPr>
            <a:r>
              <a:t>  •  Compact K/V cache: kv_dim_p_pe rows (not dim_p_pe)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500" b="0">
                <a:solidFill>
                  <a:srgbClr val="2D2D3D"/>
                </a:solidFill>
                <a:latin typeface="Calibri"/>
              </a:defRPr>
            </a:pPr>
          </a:p>
          <a:p>
            <a:pPr algn="l">
              <a:spcBef>
                <a:spcPts val="400"/>
              </a:spcBef>
              <a:spcAft>
                <a:spcPts val="200"/>
              </a:spcAft>
              <a:defRPr sz="1200" b="0">
                <a:solidFill>
                  <a:srgbClr val="2D2D3D"/>
                </a:solidFill>
                <a:latin typeface="Calibri"/>
              </a:defRPr>
            </a:pPr>
            <a:r>
              <a:t>  •  Offline W_Q/W_O column permutation → interleaved Q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500" b="0">
                <a:solidFill>
                  <a:srgbClr val="2D2D3D"/>
                </a:solidFill>
                <a:latin typeface="Calibri"/>
              </a:defRPr>
            </a:pPr>
          </a:p>
          <a:p>
            <a:pPr algn="l">
              <a:spcBef>
                <a:spcPts val="400"/>
              </a:spcBef>
              <a:spcAft>
                <a:spcPts val="200"/>
              </a:spcAft>
              <a:defRPr sz="1200" b="0">
                <a:solidFill>
                  <a:srgbClr val="2D2D3D"/>
                </a:solidFill>
                <a:latin typeface="Calibri"/>
              </a:defRPr>
            </a:pPr>
            <a:r>
              <a:t>  •  gqa_group_size GEMVs per PE for score &amp; output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500" b="0">
                <a:solidFill>
                  <a:srgbClr val="2D2D3D"/>
                </a:solidFill>
                <a:latin typeface="Calibri"/>
              </a:defRPr>
            </a:pPr>
          </a:p>
          <a:p>
            <a:pPr algn="l">
              <a:spcBef>
                <a:spcPts val="400"/>
              </a:spcBef>
              <a:spcAft>
                <a:spcPts val="200"/>
              </a:spcAft>
              <a:defRPr sz="1200" b="0">
                <a:solidFill>
                  <a:srgbClr val="0E7C6B"/>
                </a:solidFill>
                <a:latin typeface="Calibri"/>
              </a:defRPr>
            </a:pPr>
            <a:r>
              <a:t>  •  KV-head-scoped reduce: axis=3, pes_p_kv_head PEs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500" b="0">
                <a:solidFill>
                  <a:srgbClr val="2D2D3D"/>
                </a:solidFill>
                <a:latin typeface="Calibri"/>
              </a:defRPr>
            </a:pPr>
          </a:p>
          <a:p>
            <a:pPr algn="l">
              <a:spcBef>
                <a:spcPts val="400"/>
              </a:spcBef>
              <a:spcAft>
                <a:spcPts val="200"/>
              </a:spcAft>
              <a:defRPr sz="1200" b="0">
                <a:solidFill>
                  <a:srgbClr val="1E8C45"/>
                </a:solidFill>
                <a:latin typeface="Calibri"/>
              </a:defRPr>
            </a:pPr>
            <a:r>
              <a:t>  •  Zero runtime Q-alignment overhead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955280" y="1371600"/>
            <a:ext cx="3383280" cy="3474720"/>
          </a:xfrm>
          <a:prstGeom prst="roundRect">
            <a:avLst/>
          </a:prstGeom>
          <a:solidFill>
            <a:srgbClr val="F4F6FA"/>
          </a:solidFill>
          <a:ln w="19050">
            <a:solidFill>
              <a:srgbClr val="1B5E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138160" y="1508760"/>
            <a:ext cx="30175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  <a:defRPr sz="1600" b="1">
                <a:solidFill>
                  <a:srgbClr val="1B5E8A"/>
                </a:solidFill>
                <a:latin typeface="Calibri"/>
              </a:defRPr>
            </a:pPr>
            <a:r>
              <a:t>Phase 3: Incremental KV Cache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500" b="0">
                <a:solidFill>
                  <a:srgbClr val="2D2D3D"/>
                </a:solidFill>
                <a:latin typeface="Calibri"/>
              </a:defRPr>
            </a:pPr>
          </a:p>
          <a:p>
            <a:pPr algn="l">
              <a:spcBef>
                <a:spcPts val="400"/>
              </a:spcBef>
              <a:spcAft>
                <a:spcPts val="200"/>
              </a:spcAft>
              <a:defRPr sz="1200" b="0">
                <a:solidFill>
                  <a:srgbClr val="2D2D3D"/>
                </a:solidFill>
                <a:latin typeface="Calibri"/>
              </a:defRPr>
            </a:pPr>
            <a:r>
              <a:t>  •  On-chip KV cache management (builds on Phase 2)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500" b="0">
                <a:solidFill>
                  <a:srgbClr val="2D2D3D"/>
                </a:solidFill>
                <a:latin typeface="Calibri"/>
              </a:defRPr>
            </a:pPr>
          </a:p>
          <a:p>
            <a:pPr algn="l">
              <a:spcBef>
                <a:spcPts val="400"/>
              </a:spcBef>
              <a:spcAft>
                <a:spcPts val="200"/>
              </a:spcAft>
              <a:defRPr sz="1200" b="0">
                <a:solidFill>
                  <a:srgbClr val="2D2D3D"/>
                </a:solidFill>
                <a:latin typeface="Calibri"/>
              </a:defRPr>
            </a:pPr>
            <a:r>
              <a:t>  •  Host pre-loads prefilled cache before decode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500" b="0">
                <a:solidFill>
                  <a:srgbClr val="2D2D3D"/>
                </a:solidFill>
                <a:latin typeface="Calibri"/>
              </a:defRPr>
            </a:pPr>
          </a:p>
          <a:p>
            <a:pPr algn="l">
              <a:spcBef>
                <a:spcPts val="400"/>
              </a:spcBef>
              <a:spcAft>
                <a:spcPts val="200"/>
              </a:spcAft>
              <a:defRPr sz="1200" b="0">
                <a:solidFill>
                  <a:srgbClr val="2D2D3D"/>
                </a:solidFill>
                <a:latin typeface="Calibri"/>
              </a:defRPr>
            </a:pPr>
            <a:r>
              <a:t>  •  process_kv() appends tokens; iter_num = prefill_len_p_pe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500" b="0">
                <a:solidFill>
                  <a:srgbClr val="2D2D3D"/>
                </a:solidFill>
                <a:latin typeface="Calibri"/>
              </a:defRPr>
            </a:pPr>
          </a:p>
          <a:p>
            <a:pPr algn="l">
              <a:spcBef>
                <a:spcPts val="400"/>
              </a:spcBef>
              <a:spcAft>
                <a:spcPts val="200"/>
              </a:spcAft>
              <a:defRPr sz="1200" b="0">
                <a:solidFill>
                  <a:srgbClr val="0E7C6B"/>
                </a:solidFill>
                <a:latin typeface="Calibri"/>
              </a:defRPr>
            </a:pPr>
            <a:r>
              <a:t>  •  Variable-length score via @set_dsd_length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500" b="0">
                <a:solidFill>
                  <a:srgbClr val="2D2D3D"/>
                </a:solidFill>
                <a:latin typeface="Calibri"/>
              </a:defRPr>
            </a:pPr>
          </a:p>
          <a:p>
            <a:pPr algn="l">
              <a:spcBef>
                <a:spcPts val="400"/>
              </a:spcBef>
              <a:spcAft>
                <a:spcPts val="200"/>
              </a:spcAft>
              <a:defRPr sz="1200" b="0">
                <a:solidFill>
                  <a:srgbClr val="1E8C45"/>
                </a:solidFill>
                <a:latin typeface="Calibri"/>
              </a:defRPr>
            </a:pPr>
            <a:r>
              <a:t>  •  No routing changes — inherits Phase 2 infrastructure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977640" y="2834640"/>
            <a:ext cx="320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2400" b="1">
                <a:solidFill>
                  <a:srgbClr val="1B5E8A"/>
                </a:solidFill>
                <a:latin typeface="Calibri"/>
              </a:defRPr>
            </a:pPr>
            <a:r>
              <a:t>▶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80960" y="2834640"/>
            <a:ext cx="320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2400" b="1">
                <a:solidFill>
                  <a:srgbClr val="1B5E8A"/>
                </a:solidFill>
                <a:latin typeface="Calibri"/>
              </a:defRPr>
            </a:pPr>
            <a:r>
              <a:t>▶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5120640"/>
            <a:ext cx="10789920" cy="914400"/>
          </a:xfrm>
          <a:prstGeom prst="roundRect">
            <a:avLst/>
          </a:prstGeom>
          <a:solidFill>
            <a:srgbClr val="EEF1F6"/>
          </a:solidFill>
          <a:ln w="19050">
            <a:solidFill>
              <a:srgbClr val="B8730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5212080"/>
            <a:ext cx="102412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  <a:defRPr sz="1400" b="1">
                <a:solidFill>
                  <a:srgbClr val="B87308"/>
                </a:solidFill>
                <a:latin typeface="Calibri"/>
              </a:defRPr>
            </a:pPr>
            <a:r>
              <a:t>Key Constraints:  </a:t>
            </a:r>
            <a:r>
              <a:rPr sz="1300" b="0">
                <a:solidFill>
                  <a:srgbClr val="2D2D3D"/>
                </a:solidFill>
                <a:latin typeface="Calibri"/>
              </a:rPr>
              <a:t>n_heads | group_num    •    dim % P == 0    •    (n_kv_heads × head_dim) % P == 0    •    </a:t>
            </a:r>
            <a:r>
              <a:rPr sz="1300" b="0">
                <a:solidFill>
                  <a:srgbClr val="6B7280"/>
                </a:solidFill>
                <a:latin typeface="Calibri"/>
              </a:rPr>
              <a:t>Degenerate: gqa_group_size=1 → identical to Phase 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626364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B7280"/>
                </a:solidFill>
                <a:latin typeface="Calibri"/>
              </a:defRPr>
            </a:pPr>
            <a:r>
              <a:t>WaferLLM — GQA Decode Design  •  WSE-3-GQA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A1A2E"/>
                </a:solidFill>
                <a:latin typeface="Calibri"/>
              </a:defRPr>
            </a:pPr>
            <a:r>
              <a:t>The Q/K Alignment Problem &amp; Option C Solution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6012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C03030"/>
                </a:solidFill>
                <a:latin typeface="Calibri"/>
              </a:defRPr>
            </a:pPr>
            <a:r>
              <a:t>With compact KV cache (kv_dim_p_pe &lt; dim_p_pe), Q and Kᵀ on the same PE are misaligned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365760" y="1463040"/>
          <a:ext cx="11338560" cy="2468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3108960"/>
                <a:gridCol w="3291840"/>
                <a:gridCol w="3291840"/>
              </a:tblGrid>
              <a:tr h="411480"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Option A: Replicate Kᵀ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Option B: Runtime Q Scatter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1E8C45"/>
                          </a:solidFill>
                          <a:latin typeface="Calibri"/>
                        </a:defRPr>
                      </a:pPr>
                      <a:r>
                        <a:t>Option C: W_Q Permutation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D2D3D"/>
                          </a:solidFill>
                          <a:latin typeface="Calibri"/>
                        </a:defRPr>
                      </a:pPr>
                      <a:r>
                        <a:t>Kᵀ cache/PE</a:t>
                      </a:r>
                    </a:p>
                  </a:txBody>
                  <a:tcPr>
                    <a:solidFill>
                      <a:srgbClr val="F7F8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D2D3D"/>
                          </a:solidFill>
                          <a:latin typeface="Calibri"/>
                        </a:defRPr>
                      </a:pPr>
                      <a:r>
                        <a:t>dim_p_pe × seq (replicated)</a:t>
                      </a:r>
                    </a:p>
                  </a:txBody>
                  <a:tcPr>
                    <a:solidFill>
                      <a:srgbClr val="F7F8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D2D3D"/>
                          </a:solidFill>
                          <a:latin typeface="Calibri"/>
                        </a:defRPr>
                      </a:pPr>
                      <a:r>
                        <a:t>kv_dim_p_pe × seq (compact)</a:t>
                      </a:r>
                    </a:p>
                  </a:txBody>
                  <a:tcPr>
                    <a:solidFill>
                      <a:srgbClr val="F7F8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D2D3D"/>
                          </a:solidFill>
                          <a:latin typeface="Calibri"/>
                        </a:defRPr>
                      </a:pPr>
                      <a:r>
                        <a:t>kv_dim_p_pe × seq (compact)</a:t>
                      </a:r>
                    </a:p>
                  </a:txBody>
                  <a:tcPr>
                    <a:solidFill>
                      <a:srgbClr val="F7F8FB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D2D3D"/>
                          </a:solidFill>
                          <a:latin typeface="Calibri"/>
                        </a:defRPr>
                      </a:pPr>
                      <a:r>
                        <a:t>Q alignment</a:t>
                      </a:r>
                    </a:p>
                  </a:txBody>
                  <a:tcPr>
                    <a:solidFill>
                      <a:srgbClr val="EDEF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D2D3D"/>
                          </a:solidFill>
                          <a:latin typeface="Calibri"/>
                        </a:defRPr>
                      </a:pPr>
                      <a:r>
                        <a:t>None needed</a:t>
                      </a:r>
                    </a:p>
                  </a:txBody>
                  <a:tcPr>
                    <a:solidFill>
                      <a:srgbClr val="EDEF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D2D3D"/>
                          </a:solidFill>
                          <a:latin typeface="Calibri"/>
                        </a:defRPr>
                      </a:pPr>
                      <a:r>
                        <a:t>All-to-all within KV-head/step</a:t>
                      </a:r>
                    </a:p>
                  </a:txBody>
                  <a:tcPr>
                    <a:solidFill>
                      <a:srgbClr val="EDEF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D2D3D"/>
                          </a:solidFill>
                          <a:latin typeface="Calibri"/>
                        </a:defRPr>
                      </a:pPr>
                      <a:r>
                        <a:t>Offline W_Q/W_O permute (one-time)</a:t>
                      </a:r>
                    </a:p>
                  </a:txBody>
                  <a:tcPr>
                    <a:solidFill>
                      <a:srgbClr val="EDEFF4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D2D3D"/>
                          </a:solidFill>
                          <a:latin typeface="Calibri"/>
                        </a:defRPr>
                      </a:pPr>
                      <a:r>
                        <a:t>Runtime cost</a:t>
                      </a:r>
                    </a:p>
                  </a:txBody>
                  <a:tcPr>
                    <a:solidFill>
                      <a:srgbClr val="F7F8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D2D3D"/>
                          </a:solidFill>
                          <a:latin typeface="Calibri"/>
                        </a:defRPr>
                      </a:pPr>
                      <a:r>
                        <a:t>None</a:t>
                      </a:r>
                    </a:p>
                  </a:txBody>
                  <a:tcPr>
                    <a:solidFill>
                      <a:srgbClr val="F7F8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D2D3D"/>
                          </a:solidFill>
                          <a:latin typeface="Calibri"/>
                        </a:defRPr>
                      </a:pPr>
                      <a:r>
                        <a:t>(gqa-1)·kv_dim_p_pe f16/PE/step</a:t>
                      </a:r>
                    </a:p>
                  </a:txBody>
                  <a:tcPr>
                    <a:solidFill>
                      <a:srgbClr val="F7F8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D2D3D"/>
                          </a:solidFill>
                          <a:latin typeface="Calibri"/>
                        </a:defRPr>
                      </a:pPr>
                      <a:r>
                        <a:t>None</a:t>
                      </a:r>
                    </a:p>
                  </a:txBody>
                  <a:tcPr>
                    <a:solidFill>
                      <a:srgbClr val="F7F8FB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D2D3D"/>
                          </a:solidFill>
                          <a:latin typeface="Calibri"/>
                        </a:defRPr>
                      </a:pPr>
                      <a:r>
                        <a:t>LLaMA-70B mem</a:t>
                      </a:r>
                    </a:p>
                  </a:txBody>
                  <a:tcPr>
                    <a:solidFill>
                      <a:srgbClr val="EDEF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D2D3D"/>
                          </a:solidFill>
                          <a:latin typeface="Calibri"/>
                        </a:defRPr>
                      </a:pPr>
                      <a:r>
                        <a:t>256 KB/PE</a:t>
                      </a:r>
                    </a:p>
                  </a:txBody>
                  <a:tcPr>
                    <a:solidFill>
                      <a:srgbClr val="EDEF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D2D3D"/>
                          </a:solidFill>
                          <a:latin typeface="Calibri"/>
                        </a:defRPr>
                      </a:pPr>
                      <a:r>
                        <a:t>32 KB/PE</a:t>
                      </a:r>
                    </a:p>
                  </a:txBody>
                  <a:tcPr>
                    <a:solidFill>
                      <a:srgbClr val="EDEF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D2D3D"/>
                          </a:solidFill>
                          <a:latin typeface="Calibri"/>
                        </a:defRPr>
                      </a:pPr>
                      <a:r>
                        <a:t>32 KB/PE</a:t>
                      </a:r>
                    </a:p>
                  </a:txBody>
                  <a:tcPr>
                    <a:solidFill>
                      <a:srgbClr val="EDEFF4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D2D3D"/>
                          </a:solidFill>
                          <a:latin typeface="Calibri"/>
                        </a:defRPr>
                      </a:pPr>
                      <a:r>
                        <a:t>Verdict</a:t>
                      </a:r>
                    </a:p>
                  </a:txBody>
                  <a:tcPr>
                    <a:solidFill>
                      <a:srgbClr val="F7F8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B87308"/>
                          </a:solidFill>
                          <a:latin typeface="Calibri"/>
                        </a:defRPr>
                      </a:pPr>
                      <a:r>
                        <a:t>Simple but wasteful</a:t>
                      </a:r>
                    </a:p>
                  </a:txBody>
                  <a:tcPr>
                    <a:solidFill>
                      <a:srgbClr val="F7F8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C03030"/>
                          </a:solidFill>
                          <a:latin typeface="Calibri"/>
                        </a:defRPr>
                      </a:pPr>
                      <a:r>
                        <a:t>Dominated by Option C</a:t>
                      </a:r>
                    </a:p>
                  </a:txBody>
                  <a:tcPr>
                    <a:solidFill>
                      <a:srgbClr val="F7F8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1E8C45"/>
                          </a:solidFill>
                          <a:latin typeface="Calibri"/>
                        </a:defRPr>
                      </a:pPr>
                      <a:r>
                        <a:t>RECOMMENDED</a:t>
                      </a:r>
                    </a:p>
                  </a:txBody>
                  <a:tcPr>
                    <a:solidFill>
                      <a:srgbClr val="F7F8FB"/>
                    </a:solidFill>
                  </a:tcPr>
                </a:tc>
              </a:tr>
            </a:tbl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548640" y="4023360"/>
            <a:ext cx="10972800" cy="2194560"/>
          </a:xfrm>
          <a:prstGeom prst="roundRect">
            <a:avLst/>
          </a:prstGeom>
          <a:solidFill>
            <a:srgbClr val="F4F6FA"/>
          </a:solidFill>
          <a:ln w="19050">
            <a:solidFill>
              <a:srgbClr val="0E7C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4114800"/>
            <a:ext cx="104241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  <a:defRPr sz="1700" b="1">
                <a:solidFill>
                  <a:srgbClr val="0E7C6B"/>
                </a:solidFill>
                <a:latin typeface="Calibri"/>
              </a:defRPr>
            </a:pPr>
            <a:r>
              <a:t>Option C: How It Works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500" b="0">
                <a:solidFill>
                  <a:srgbClr val="2D2D3D"/>
                </a:solidFill>
                <a:latin typeface="Calibri"/>
              </a:defRPr>
            </a:pPr>
          </a:p>
          <a:p>
            <a:pPr algn="l">
              <a:spcBef>
                <a:spcPts val="400"/>
              </a:spcBef>
              <a:spcAft>
                <a:spcPts val="200"/>
              </a:spcAft>
              <a:defRPr sz="1300" b="0">
                <a:solidFill>
                  <a:srgbClr val="2D2D3D"/>
                </a:solidFill>
                <a:latin typeface="Calibri"/>
              </a:defRPr>
            </a:pPr>
            <a:r>
              <a:t>  1.  Permute W_Q columns offline so each PE's Q is interleaved by GQA group: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200" b="0">
                <a:solidFill>
                  <a:srgbClr val="1B5E8A"/>
                </a:solidFill>
                <a:latin typeface="Consolas"/>
              </a:defRPr>
            </a:pPr>
            <a:r>
              <a:t>       buf = [Q_g0(kv_dim_p_pe) | Q_g1(kv_dim_p_pe) | ... ]   → naturally aligned with local Kᵀ rows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500" b="0">
                <a:solidFill>
                  <a:srgbClr val="2D2D3D"/>
                </a:solidFill>
                <a:latin typeface="Calibri"/>
              </a:defRPr>
            </a:pPr>
          </a:p>
          <a:p>
            <a:pPr algn="l">
              <a:spcBef>
                <a:spcPts val="400"/>
              </a:spcBef>
              <a:spcAft>
                <a:spcPts val="200"/>
              </a:spcAft>
              <a:defRPr sz="1300" b="0">
                <a:solidFill>
                  <a:srgbClr val="2D2D3D"/>
                </a:solidFill>
                <a:latin typeface="Calibri"/>
              </a:defRPr>
            </a:pPr>
            <a:r>
              <a:t>  2.  Apply same permutation to W_O rows (preserves input/output contract)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500" b="0">
                <a:solidFill>
                  <a:srgbClr val="2D2D3D"/>
                </a:solidFill>
                <a:latin typeface="Calibri"/>
              </a:defRPr>
            </a:pPr>
          </a:p>
          <a:p>
            <a:pPr algn="l">
              <a:spcBef>
                <a:spcPts val="400"/>
              </a:spcBef>
              <a:spcAft>
                <a:spcPts val="200"/>
              </a:spcAft>
              <a:defRPr sz="1300" b="0">
                <a:solidFill>
                  <a:srgbClr val="2D2D3D"/>
                </a:solidFill>
                <a:latin typeface="Calibri"/>
              </a:defRPr>
            </a:pPr>
            <a:r>
              <a:t>  3.  Score GEMV: run gqa_group_size GEMVs per PE, each Kt = kv_dim_p_pe, with KV-head-scoped reduce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500" b="0">
                <a:solidFill>
                  <a:srgbClr val="2D2D3D"/>
                </a:solidFill>
                <a:latin typeface="Calibri"/>
              </a:defRPr>
            </a:pPr>
          </a:p>
          <a:p>
            <a:pPr algn="l">
              <a:spcBef>
                <a:spcPts val="400"/>
              </a:spcBef>
              <a:spcAft>
                <a:spcPts val="200"/>
              </a:spcAft>
              <a:defRPr sz="1300" b="0">
                <a:solidFill>
                  <a:srgbClr val="2D2D3D"/>
                </a:solidFill>
                <a:latin typeface="Calibri"/>
              </a:defRPr>
            </a:pPr>
            <a:r>
              <a:t>  </a:t>
            </a:r>
            <a:r>
              <a:rPr sz="1300" b="1">
                <a:solidFill>
                  <a:srgbClr val="1E8C45"/>
                </a:solidFill>
                <a:latin typeface="Calibri"/>
              </a:rPr>
              <a:t>Result: </a:t>
            </a:r>
            <a:r>
              <a:rPr sz="1300" b="0">
                <a:solidFill>
                  <a:srgbClr val="2D2D3D"/>
                </a:solidFill>
                <a:latin typeface="Calibri"/>
              </a:rPr>
              <a:t>8× memory savings (LLaMA-70B) with zero runtime overhead. Identity permutation when gqa_group_size=1.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26364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B7280"/>
                </a:solidFill>
                <a:latin typeface="Calibri"/>
              </a:defRPr>
            </a:pPr>
            <a:r>
              <a:t>WaferLLM — GQA Decode Design  •  WSE-3-GQA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A1A2E"/>
                </a:solidFill>
                <a:latin typeface="Calibri"/>
              </a:defRPr>
            </a:pPr>
            <a:r>
              <a:t>Decode Pipeline — Phase 2 (GQA + Option C)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280160"/>
            <a:ext cx="5303520" cy="566928"/>
          </a:xfrm>
          <a:prstGeom prst="roundRect">
            <a:avLst/>
          </a:prstGeom>
          <a:solidFill>
            <a:srgbClr val="F4F6FA"/>
          </a:solidFill>
          <a:ln w="19050">
            <a:solidFill>
              <a:srgbClr val="C8CC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325880"/>
            <a:ext cx="50292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  <a:defRPr sz="1300" b="0">
                <a:solidFill>
                  <a:srgbClr val="2D2D3D"/>
                </a:solidFill>
                <a:latin typeface="Calibri"/>
              </a:defRPr>
            </a:pPr>
            <a:r>
              <a:rPr sz="1300" b="1">
                <a:solidFill>
                  <a:srgbClr val="2D2D3D"/>
                </a:solidFill>
                <a:latin typeface="Consolas"/>
              </a:rPr>
              <a:t>rmsnorm_x()</a:t>
            </a:r>
            <a:r>
              <a:rPr sz="1200" b="0">
                <a:solidFill>
                  <a:srgbClr val="6B7280"/>
                </a:solidFill>
                <a:latin typeface="Calibri"/>
              </a:rPr>
              <a:t>   →  UNCHANGED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938528"/>
            <a:ext cx="5303520" cy="566928"/>
          </a:xfrm>
          <a:prstGeom prst="roundRect">
            <a:avLst/>
          </a:prstGeom>
          <a:solidFill>
            <a:srgbClr val="F4F6FA"/>
          </a:solidFill>
          <a:ln w="19050">
            <a:solidFill>
              <a:srgbClr val="C8CC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984248"/>
            <a:ext cx="50292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  <a:defRPr sz="1300" b="0">
                <a:solidFill>
                  <a:srgbClr val="2D2D3D"/>
                </a:solidFill>
                <a:latin typeface="Calibri"/>
              </a:defRPr>
            </a:pPr>
            <a:r>
              <a:rPr sz="1300" b="1">
                <a:solidFill>
                  <a:srgbClr val="2D2D3D"/>
                </a:solidFill>
                <a:latin typeface="Consolas"/>
              </a:rPr>
              <a:t>xq_matvec_mult()  (W_Q permuted)</a:t>
            </a:r>
            <a:r>
              <a:rPr sz="1200" b="0">
                <a:solidFill>
                  <a:srgbClr val="6B7280"/>
                </a:solidFill>
                <a:latin typeface="Calibri"/>
              </a:rPr>
              <a:t>   →  UNCHANGED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2596896"/>
            <a:ext cx="5303520" cy="566928"/>
          </a:xfrm>
          <a:prstGeom prst="roundRect">
            <a:avLst/>
          </a:prstGeom>
          <a:solidFill>
            <a:srgbClr val="F4F6FA"/>
          </a:solidFill>
          <a:ln w="19050">
            <a:solidFill>
              <a:srgbClr val="B8730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2642616"/>
            <a:ext cx="50292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  <a:defRPr sz="1300" b="0">
                <a:solidFill>
                  <a:srgbClr val="2D2D3D"/>
                </a:solidFill>
                <a:latin typeface="Calibri"/>
              </a:defRPr>
            </a:pPr>
            <a:r>
              <a:rPr sz="1300" b="1">
                <a:solidFill>
                  <a:srgbClr val="2D2D3D"/>
                </a:solidFill>
                <a:latin typeface="Consolas"/>
              </a:rPr>
              <a:t>xk/xv_matvec_mult()</a:t>
            </a:r>
            <a:r>
              <a:rPr sz="1200" b="0">
                <a:solidFill>
                  <a:srgbClr val="B87308"/>
                </a:solidFill>
                <a:latin typeface="Calibri"/>
              </a:rPr>
              <a:t>   →  Nt = kv_dim_p_pe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3255264"/>
            <a:ext cx="5303520" cy="566928"/>
          </a:xfrm>
          <a:prstGeom prst="roundRect">
            <a:avLst/>
          </a:prstGeom>
          <a:solidFill>
            <a:srgbClr val="F4F6FA"/>
          </a:solidFill>
          <a:ln w="19050">
            <a:solidFill>
              <a:srgbClr val="B8730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3300984"/>
            <a:ext cx="50292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  <a:defRPr sz="1300" b="0">
                <a:solidFill>
                  <a:srgbClr val="2D2D3D"/>
                </a:solidFill>
                <a:latin typeface="Calibri"/>
              </a:defRPr>
            </a:pPr>
            <a:r>
              <a:rPr sz="1300" b="1">
                <a:solidFill>
                  <a:srgbClr val="2D2D3D"/>
                </a:solidFill>
                <a:latin typeface="Consolas"/>
              </a:rPr>
              <a:t>QKV Y-reduce</a:t>
            </a:r>
            <a:r>
              <a:rPr sz="1200" b="0">
                <a:solidFill>
                  <a:srgbClr val="B87308"/>
                </a:solidFill>
                <a:latin typeface="Calibri"/>
              </a:rPr>
              <a:t>   →  extent = bsz×(dim_p_pe + 2×kv_dim_p_pe)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3913632"/>
            <a:ext cx="5303520" cy="566928"/>
          </a:xfrm>
          <a:prstGeom prst="roundRect">
            <a:avLst/>
          </a:prstGeom>
          <a:solidFill>
            <a:srgbClr val="F4F6FA"/>
          </a:solidFill>
          <a:ln w="19050">
            <a:solidFill>
              <a:srgbClr val="B8730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" y="3959352"/>
            <a:ext cx="50292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  <a:defRPr sz="1300" b="0">
                <a:solidFill>
                  <a:srgbClr val="2D2D3D"/>
                </a:solidFill>
                <a:latin typeface="Calibri"/>
              </a:defRPr>
            </a:pPr>
            <a:r>
              <a:rPr sz="1300" b="1">
                <a:solidFill>
                  <a:srgbClr val="2D2D3D"/>
                </a:solidFill>
                <a:latin typeface="Consolas"/>
              </a:rPr>
              <a:t>xq_rope()</a:t>
            </a:r>
            <a:r>
              <a:rPr sz="1200" b="0">
                <a:solidFill>
                  <a:srgbClr val="B87308"/>
                </a:solidFill>
                <a:latin typeface="Calibri"/>
              </a:rPr>
              <a:t>   →  loop gqa_group_size sub-blocks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4572000"/>
            <a:ext cx="5303520" cy="566928"/>
          </a:xfrm>
          <a:prstGeom prst="roundRect">
            <a:avLst/>
          </a:prstGeom>
          <a:solidFill>
            <a:srgbClr val="F4F6FA"/>
          </a:solidFill>
          <a:ln w="19050">
            <a:solidFill>
              <a:srgbClr val="B8730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5800" y="4617720"/>
            <a:ext cx="50292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  <a:defRPr sz="1300" b="0">
                <a:solidFill>
                  <a:srgbClr val="2D2D3D"/>
                </a:solidFill>
                <a:latin typeface="Calibri"/>
              </a:defRPr>
            </a:pPr>
            <a:r>
              <a:rPr sz="1300" b="1">
                <a:solidFill>
                  <a:srgbClr val="2D2D3D"/>
                </a:solidFill>
                <a:latin typeface="Consolas"/>
              </a:rPr>
              <a:t>xk_rope()</a:t>
            </a:r>
            <a:r>
              <a:rPr sz="1200" b="0">
                <a:solidFill>
                  <a:srgbClr val="B87308"/>
                </a:solidFill>
                <a:latin typeface="Calibri"/>
              </a:rPr>
              <a:t>   →  kv_dim_p_pe extent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17920" y="1280160"/>
            <a:ext cx="5303520" cy="566928"/>
          </a:xfrm>
          <a:prstGeom prst="roundRect">
            <a:avLst/>
          </a:prstGeom>
          <a:solidFill>
            <a:srgbClr val="F4F6FA"/>
          </a:solidFill>
          <a:ln w="19050">
            <a:solidFill>
              <a:srgbClr val="0E7C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55080" y="1325880"/>
            <a:ext cx="50292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  <a:defRPr sz="1300" b="0">
                <a:solidFill>
                  <a:srgbClr val="2D2D3D"/>
                </a:solidFill>
                <a:latin typeface="Calibri"/>
              </a:defRPr>
            </a:pPr>
            <a:r>
              <a:rPr sz="1300" b="1">
                <a:solidFill>
                  <a:srgbClr val="2D2D3D"/>
                </a:solidFill>
                <a:latin typeface="Consolas"/>
              </a:rPr>
              <a:t>reconfig_allreduce_axis(3)</a:t>
            </a:r>
            <a:r>
              <a:rPr sz="1200" b="0">
                <a:solidFill>
                  <a:srgbClr val="0E7C6B"/>
                </a:solidFill>
                <a:latin typeface="Calibri"/>
              </a:rPr>
              <a:t>   →  NEW: KV-head-scoped X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17920" y="1938528"/>
            <a:ext cx="5303520" cy="566928"/>
          </a:xfrm>
          <a:prstGeom prst="roundRect">
            <a:avLst/>
          </a:prstGeom>
          <a:solidFill>
            <a:srgbClr val="F4F6FA"/>
          </a:solidFill>
          <a:ln w="19050">
            <a:solidFill>
              <a:srgbClr val="0E7C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55080" y="1984248"/>
            <a:ext cx="50292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  <a:defRPr sz="1300" b="0">
                <a:solidFill>
                  <a:srgbClr val="2D2D3D"/>
                </a:solidFill>
                <a:latin typeface="Calibri"/>
              </a:defRPr>
            </a:pPr>
            <a:r>
              <a:rPr sz="1300" b="1">
                <a:solidFill>
                  <a:srgbClr val="2D2D3D"/>
                </a:solidFill>
                <a:latin typeface="Consolas"/>
              </a:rPr>
              <a:t>score_matvec_mult() × gqa</a:t>
            </a:r>
            <a:r>
              <a:rPr sz="1200" b="0">
                <a:solidFill>
                  <a:srgbClr val="0E7C6B"/>
                </a:solidFill>
                <a:latin typeface="Calibri"/>
              </a:rPr>
              <a:t>   →  Kt=kv_dim_p_pe, gqa GEMVs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17920" y="2596896"/>
            <a:ext cx="5303520" cy="566928"/>
          </a:xfrm>
          <a:prstGeom prst="roundRect">
            <a:avLst/>
          </a:prstGeom>
          <a:solidFill>
            <a:srgbClr val="F4F6FA"/>
          </a:solidFill>
          <a:ln w="19050">
            <a:solidFill>
              <a:srgbClr val="B8730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55080" y="2642616"/>
            <a:ext cx="50292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  <a:defRPr sz="1300" b="0">
                <a:solidFill>
                  <a:srgbClr val="2D2D3D"/>
                </a:solidFill>
                <a:latin typeface="Calibri"/>
              </a:defRPr>
            </a:pPr>
            <a:r>
              <a:rPr sz="1300" b="1">
                <a:solidFill>
                  <a:srgbClr val="2D2D3D"/>
                </a:solidFill>
                <a:latin typeface="Consolas"/>
              </a:rPr>
              <a:t>softmax_score() × gqa</a:t>
            </a:r>
            <a:r>
              <a:rPr sz="1200" b="0">
                <a:solidFill>
                  <a:srgbClr val="B87308"/>
                </a:solidFill>
                <a:latin typeface="Calibri"/>
              </a:rPr>
              <a:t>   →  loop gqa_group_size times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17920" y="3255264"/>
            <a:ext cx="5303520" cy="566928"/>
          </a:xfrm>
          <a:prstGeom prst="roundRect">
            <a:avLst/>
          </a:prstGeom>
          <a:solidFill>
            <a:srgbClr val="F4F6FA"/>
          </a:solidFill>
          <a:ln w="19050">
            <a:solidFill>
              <a:srgbClr val="0E7C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55080" y="3300984"/>
            <a:ext cx="50292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  <a:defRPr sz="1300" b="0">
                <a:solidFill>
                  <a:srgbClr val="2D2D3D"/>
                </a:solidFill>
                <a:latin typeface="Calibri"/>
              </a:defRPr>
            </a:pPr>
            <a:r>
              <a:rPr sz="1300" b="1">
                <a:solidFill>
                  <a:srgbClr val="2D2D3D"/>
                </a:solidFill>
                <a:latin typeface="Consolas"/>
              </a:rPr>
              <a:t>output_matvec_mult() × gqa</a:t>
            </a:r>
            <a:r>
              <a:rPr sz="1200" b="0">
                <a:solidFill>
                  <a:srgbClr val="0E7C6B"/>
                </a:solidFill>
                <a:latin typeface="Calibri"/>
              </a:rPr>
              <a:t>   →  Vt=kv_dim_p_pe, gqa GEMVs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17920" y="3913632"/>
            <a:ext cx="5303520" cy="566928"/>
          </a:xfrm>
          <a:prstGeom prst="roundRect">
            <a:avLst/>
          </a:prstGeom>
          <a:solidFill>
            <a:srgbClr val="F4F6FA"/>
          </a:solidFill>
          <a:ln w="19050">
            <a:solidFill>
              <a:srgbClr val="C8CC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355080" y="3959352"/>
            <a:ext cx="50292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  <a:defRPr sz="1300" b="0">
                <a:solidFill>
                  <a:srgbClr val="2D2D3D"/>
                </a:solidFill>
                <a:latin typeface="Calibri"/>
              </a:defRPr>
            </a:pPr>
            <a:r>
              <a:rPr sz="1300" b="1">
                <a:solidFill>
                  <a:srgbClr val="2D2D3D"/>
                </a:solidFill>
                <a:latin typeface="Consolas"/>
              </a:rPr>
              <a:t>o_matvec_mult()  (W_O permuted)</a:t>
            </a:r>
            <a:r>
              <a:rPr sz="1200" b="0">
                <a:solidFill>
                  <a:srgbClr val="6B7280"/>
                </a:solidFill>
                <a:latin typeface="Calibri"/>
              </a:rPr>
              <a:t>   →  UNCHANGED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217920" y="4572000"/>
            <a:ext cx="5303520" cy="566928"/>
          </a:xfrm>
          <a:prstGeom prst="roundRect">
            <a:avLst/>
          </a:prstGeom>
          <a:solidFill>
            <a:srgbClr val="F4F6FA"/>
          </a:solidFill>
          <a:ln w="19050">
            <a:solidFill>
              <a:srgbClr val="C8CC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355080" y="4617720"/>
            <a:ext cx="50292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  <a:defRPr sz="1300" b="0">
                <a:solidFill>
                  <a:srgbClr val="2D2D3D"/>
                </a:solidFill>
                <a:latin typeface="Calibri"/>
              </a:defRPr>
            </a:pPr>
            <a:r>
              <a:rPr sz="1300" b="1">
                <a:solidFill>
                  <a:srgbClr val="2D2D3D"/>
                </a:solidFill>
                <a:latin typeface="Consolas"/>
              </a:rPr>
              <a:t>FFN pipeline</a:t>
            </a:r>
            <a:r>
              <a:rPr sz="1200" b="0">
                <a:solidFill>
                  <a:srgbClr val="6B7280"/>
                </a:solidFill>
                <a:latin typeface="Calibri"/>
              </a:rPr>
              <a:t>   →  ALL UNCHANGED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1520" y="539496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  <a:defRPr sz="1300" b="0">
                <a:solidFill>
                  <a:srgbClr val="2D2D3D"/>
                </a:solidFill>
                <a:latin typeface="Calibri"/>
              </a:defRPr>
            </a:pPr>
            <a:r>
              <a:rPr sz="1300" b="1">
                <a:solidFill>
                  <a:srgbClr val="B87308"/>
                </a:solidFill>
                <a:latin typeface="Calibri"/>
              </a:rPr>
              <a:t>█ Changed   </a:t>
            </a:r>
            <a:r>
              <a:rPr sz="1300" b="1">
                <a:solidFill>
                  <a:srgbClr val="0E7C6B"/>
                </a:solidFill>
                <a:latin typeface="Calibri"/>
              </a:rPr>
              <a:t>█ New/Critical   </a:t>
            </a:r>
            <a:r>
              <a:rPr sz="1300" b="1">
                <a:solidFill>
                  <a:srgbClr val="6B7280"/>
                </a:solidFill>
                <a:latin typeface="Calibri"/>
              </a:rPr>
              <a:t>█ Unchanged        </a:t>
            </a:r>
            <a:r>
              <a:rPr sz="1200" b="0">
                <a:solidFill>
                  <a:srgbClr val="6B7280"/>
                </a:solidFill>
                <a:latin typeface="Calibri"/>
              </a:rPr>
              <a:t>Degenerate check: gqa_group_size=1 → all loops run once, kv_dim_p_pe=dim_p_pe → identical to Phase 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31520" y="626364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B7280"/>
                </a:solidFill>
                <a:latin typeface="Calibri"/>
              </a:defRPr>
            </a:pPr>
            <a:r>
              <a:t>WaferLLM — GQA Decode Design  •  WSE-3-GQA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A1A2E"/>
                </a:solidFill>
                <a:latin typeface="Calibri"/>
              </a:defRPr>
            </a:pPr>
            <a:r>
              <a:t>PE-Local Memory Layouts &amp; Constraints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365760" y="1188720"/>
          <a:ext cx="11155680" cy="2057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3108960"/>
                <a:gridCol w="3291840"/>
                <a:gridCol w="2926080"/>
              </a:tblGrid>
              <a:tr h="411480"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Buffer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Shape (per PE)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Dimension Order (slow → fast)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Notes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D2D3D"/>
                          </a:solidFill>
                          <a:latin typeface="Calibri"/>
                        </a:defRPr>
                      </a:pPr>
                      <a:r>
                        <a:t>Q (interleaved)</a:t>
                      </a:r>
                    </a:p>
                  </a:txBody>
                  <a:tcPr>
                    <a:solidFill>
                      <a:srgbClr val="F7F8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D2D3D"/>
                          </a:solidFill>
                          <a:latin typeface="Calibri"/>
                        </a:defRPr>
                      </a:pPr>
                      <a:r>
                        <a:t>bsz × dim_p_pe</a:t>
                      </a:r>
                    </a:p>
                  </a:txBody>
                  <a:tcPr>
                    <a:solidFill>
                      <a:srgbClr val="F7F8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D2D3D"/>
                          </a:solidFill>
                          <a:latin typeface="Calibri"/>
                        </a:defRPr>
                      </a:pPr>
                      <a:r>
                        <a:t>batch → GQA group → KV feature</a:t>
                      </a:r>
                    </a:p>
                  </a:txBody>
                  <a:tcPr>
                    <a:solidFill>
                      <a:srgbClr val="F7F8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D2D3D"/>
                          </a:solidFill>
                          <a:latin typeface="Calibri"/>
                        </a:defRPr>
                      </a:pPr>
                      <a:r>
                        <a:t>Option C interleaving</a:t>
                      </a:r>
                    </a:p>
                  </a:txBody>
                  <a:tcPr>
                    <a:solidFill>
                      <a:srgbClr val="F7F8FB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D2D3D"/>
                          </a:solidFill>
                          <a:latin typeface="Calibri"/>
                        </a:defRPr>
                      </a:pPr>
                      <a:r>
                        <a:t>K cache (Kᵀ)</a:t>
                      </a:r>
                    </a:p>
                  </a:txBody>
                  <a:tcPr>
                    <a:solidFill>
                      <a:srgbClr val="EDEF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D2D3D"/>
                          </a:solidFill>
                          <a:latin typeface="Calibri"/>
                        </a:defRPr>
                      </a:pPr>
                      <a:r>
                        <a:t>bsz × kv_dim_p_pe × max_seq_p_pe</a:t>
                      </a:r>
                    </a:p>
                  </a:txBody>
                  <a:tcPr>
                    <a:solidFill>
                      <a:srgbClr val="EDEF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D2D3D"/>
                          </a:solidFill>
                          <a:latin typeface="Calibri"/>
                        </a:defRPr>
                      </a:pPr>
                      <a:r>
                        <a:t>batch → KV feature → seq slot</a:t>
                      </a:r>
                    </a:p>
                  </a:txBody>
                  <a:tcPr>
                    <a:solidFill>
                      <a:srgbClr val="EDEF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D2D3D"/>
                          </a:solidFill>
                          <a:latin typeface="Calibri"/>
                        </a:defRPr>
                      </a:pPr>
                      <a:r>
                        <a:t>Stride-1 along seq axis</a:t>
                      </a:r>
                    </a:p>
                  </a:txBody>
                  <a:tcPr>
                    <a:solidFill>
                      <a:srgbClr val="EDEFF4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D2D3D"/>
                          </a:solidFill>
                          <a:latin typeface="Calibri"/>
                        </a:defRPr>
                      </a:pPr>
                      <a:r>
                        <a:t>V cache</a:t>
                      </a:r>
                    </a:p>
                  </a:txBody>
                  <a:tcPr>
                    <a:solidFill>
                      <a:srgbClr val="F7F8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D2D3D"/>
                          </a:solidFill>
                          <a:latin typeface="Calibri"/>
                        </a:defRPr>
                      </a:pPr>
                      <a:r>
                        <a:t>bsz × max_seq_p_pe × kv_dim_p_pe</a:t>
                      </a:r>
                    </a:p>
                  </a:txBody>
                  <a:tcPr>
                    <a:solidFill>
                      <a:srgbClr val="F7F8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D2D3D"/>
                          </a:solidFill>
                          <a:latin typeface="Calibri"/>
                        </a:defRPr>
                      </a:pPr>
                      <a:r>
                        <a:t>batch → seq slot → KV feature</a:t>
                      </a:r>
                    </a:p>
                  </a:txBody>
                  <a:tcPr>
                    <a:solidFill>
                      <a:srgbClr val="F7F8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D2D3D"/>
                          </a:solidFill>
                          <a:latin typeface="Calibri"/>
                        </a:defRPr>
                      </a:pPr>
                      <a:r>
                        <a:t>Contiguous token rows</a:t>
                      </a:r>
                    </a:p>
                  </a:txBody>
                  <a:tcPr>
                    <a:solidFill>
                      <a:srgbClr val="F7F8FB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D2D3D"/>
                          </a:solidFill>
                          <a:latin typeface="Calibri"/>
                        </a:defRPr>
                      </a:pPr>
                      <a:r>
                        <a:t>Score</a:t>
                      </a:r>
                    </a:p>
                  </a:txBody>
                  <a:tcPr>
                    <a:solidFill>
                      <a:srgbClr val="EDEF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D2D3D"/>
                          </a:solidFill>
                          <a:latin typeface="Calibri"/>
                        </a:defRPr>
                      </a:pPr>
                      <a:r>
                        <a:t>gqa × bsz × max_seq_p_pe</a:t>
                      </a:r>
                    </a:p>
                  </a:txBody>
                  <a:tcPr>
                    <a:solidFill>
                      <a:srgbClr val="EDEF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D2D3D"/>
                          </a:solidFill>
                          <a:latin typeface="Calibri"/>
                        </a:defRPr>
                      </a:pPr>
                      <a:r>
                        <a:t>batch → GQA group → seq slot</a:t>
                      </a:r>
                    </a:p>
                  </a:txBody>
                  <a:tcPr>
                    <a:solidFill>
                      <a:srgbClr val="EDEF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D2D3D"/>
                          </a:solidFill>
                          <a:latin typeface="Calibri"/>
                        </a:defRPr>
                      </a:pPr>
                      <a:r>
                        <a:t>iter_num-packed, not padded</a:t>
                      </a:r>
                    </a:p>
                  </a:txBody>
                  <a:tcPr>
                    <a:solidFill>
                      <a:srgbClr val="EDEFF4"/>
                    </a:solidFill>
                  </a:tcPr>
                </a:tc>
              </a:tr>
            </a:tbl>
          </a:graphicData>
        </a:graphic>
      </p:graphicFrame>
      <p:sp>
        <p:nvSpPr>
          <p:cNvPr id="4" name="Rounded Rectangle 3"/>
          <p:cNvSpPr/>
          <p:nvPr/>
        </p:nvSpPr>
        <p:spPr>
          <a:xfrm>
            <a:off x="548640" y="3474720"/>
            <a:ext cx="5303520" cy="1463040"/>
          </a:xfrm>
          <a:prstGeom prst="roundRect">
            <a:avLst/>
          </a:prstGeom>
          <a:solidFill>
            <a:srgbClr val="F4F6FA"/>
          </a:solidFill>
          <a:ln w="19050">
            <a:solidFill>
              <a:srgbClr val="1B5E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3566160"/>
            <a:ext cx="49377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  <a:defRPr sz="1500" b="1">
                <a:solidFill>
                  <a:srgbClr val="1B5E8A"/>
                </a:solidFill>
                <a:latin typeface="Calibri"/>
              </a:defRPr>
            </a:pPr>
            <a:r>
              <a:t>Why Different K/V Layouts?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500" b="0">
                <a:solidFill>
                  <a:srgbClr val="2D2D3D"/>
                </a:solidFill>
                <a:latin typeface="Calibri"/>
              </a:defRPr>
            </a:pPr>
          </a:p>
          <a:p>
            <a:pPr algn="l">
              <a:spcBef>
                <a:spcPts val="400"/>
              </a:spcBef>
              <a:spcAft>
                <a:spcPts val="200"/>
              </a:spcAft>
              <a:defRPr sz="1300" b="0">
                <a:solidFill>
                  <a:srgbClr val="2D2D3D"/>
                </a:solidFill>
                <a:latin typeface="Consolas"/>
              </a:defRPr>
            </a:pPr>
            <a:r>
              <a:t>  Kᵀ: feature outer / seq inner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200" b="0">
                <a:solidFill>
                  <a:srgbClr val="6B7280"/>
                </a:solidFill>
                <a:latin typeface="Calibri"/>
              </a:defRPr>
            </a:pPr>
            <a:r>
              <a:t>    → score GEMV walks over features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300" b="0">
                <a:solidFill>
                  <a:srgbClr val="2D2D3D"/>
                </a:solidFill>
                <a:latin typeface="Consolas"/>
              </a:defRPr>
            </a:pPr>
            <a:r>
              <a:t>  V:  seq outer / feature inner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200" b="0">
                <a:solidFill>
                  <a:srgbClr val="6B7280"/>
                </a:solidFill>
                <a:latin typeface="Calibri"/>
              </a:defRPr>
            </a:pPr>
            <a:r>
              <a:t>    → output GEMV walks over tokens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3474720"/>
            <a:ext cx="5303520" cy="1463040"/>
          </a:xfrm>
          <a:prstGeom prst="roundRect">
            <a:avLst/>
          </a:prstGeom>
          <a:solidFill>
            <a:srgbClr val="F4F6FA"/>
          </a:solidFill>
          <a:ln w="19050">
            <a:solidFill>
              <a:srgbClr val="B8730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0" y="3566160"/>
            <a:ext cx="49377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  <a:defRPr sz="1500" b="1">
                <a:solidFill>
                  <a:srgbClr val="B87308"/>
                </a:solidFill>
                <a:latin typeface="Calibri"/>
              </a:defRPr>
            </a:pPr>
            <a:r>
              <a:t>Constraints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500" b="0">
                <a:solidFill>
                  <a:srgbClr val="2D2D3D"/>
                </a:solidFill>
                <a:latin typeface="Calibri"/>
              </a:defRPr>
            </a:pPr>
          </a:p>
          <a:p>
            <a:pPr algn="l">
              <a:spcBef>
                <a:spcPts val="400"/>
              </a:spcBef>
              <a:spcAft>
                <a:spcPts val="200"/>
              </a:spcAft>
              <a:defRPr sz="1300" b="0">
                <a:solidFill>
                  <a:srgbClr val="2D2D3D"/>
                </a:solidFill>
                <a:latin typeface="Consolas"/>
              </a:defRPr>
            </a:pPr>
            <a:r>
              <a:t>  •  dim % P == 0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300" b="0">
                <a:solidFill>
                  <a:srgbClr val="2D2D3D"/>
                </a:solidFill>
                <a:latin typeface="Consolas"/>
              </a:defRPr>
            </a:pPr>
            <a:r>
              <a:t>  •  (n_kv_heads × head_dim) % P == 0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300" b="0">
                <a:solidFill>
                  <a:srgbClr val="2D2D3D"/>
                </a:solidFill>
                <a:latin typeface="Consolas"/>
              </a:defRPr>
            </a:pPr>
            <a:r>
              <a:t>  •  n_heads % n_kv_heads == 0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300" b="0">
                <a:solidFill>
                  <a:srgbClr val="2D2D3D"/>
                </a:solidFill>
                <a:latin typeface="Consolas"/>
              </a:defRPr>
            </a:pPr>
            <a:r>
              <a:t>  •  n_heads | group_num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5212080"/>
            <a:ext cx="10972800" cy="914400"/>
          </a:xfrm>
          <a:prstGeom prst="roundRect">
            <a:avLst/>
          </a:prstGeom>
          <a:solidFill>
            <a:srgbClr val="F4F6FA"/>
          </a:solidFill>
          <a:ln w="19050">
            <a:solidFill>
              <a:srgbClr val="0E7C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5303520"/>
            <a:ext cx="104241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  <a:defRPr sz="1400" b="1">
                <a:solidFill>
                  <a:srgbClr val="0E7C6B"/>
                </a:solidFill>
                <a:latin typeface="Calibri"/>
              </a:defRPr>
            </a:pPr>
            <a:r>
              <a:t>Phase 3 KV Cache: </a:t>
            </a:r>
            <a:r>
              <a:rPr sz="1300" b="0">
                <a:solidFill>
                  <a:srgbClr val="2D2D3D"/>
                </a:solidFill>
                <a:latin typeface="Calibri"/>
              </a:rPr>
              <a:t>Host pre-loads prefilled cache → iter_num = prefill_len_p_pe (not 0) → </a:t>
            </a:r>
            <a:r>
              <a:rPr sz="1300" b="0">
                <a:solidFill>
                  <a:srgbClr val="2D2D3D"/>
                </a:solidFill>
                <a:latin typeface="Calibri"/>
              </a:rPr>
              <a:t>process_kv() appends from there → variable-length score via @set_dsd_length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200" b="0">
                <a:solidFill>
                  <a:srgbClr val="6B7280"/>
                </a:solidFill>
                <a:latin typeface="Calibri"/>
              </a:defRPr>
            </a:pPr>
            <a:r>
              <a:t>  Token distribution: PE(px,py) owns global tokens {py, py+P, py+2P, ...}. Batched GEMV uses nested bsz × gqa_group_size loops.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26364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B7280"/>
                </a:solidFill>
                <a:latin typeface="Calibri"/>
              </a:defRPr>
            </a:pPr>
            <a:r>
              <a:t>WaferLLM — GQA Decode Design  •  WSE-3-GQA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