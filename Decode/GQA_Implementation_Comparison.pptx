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2B6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A1A2E"/>
                </a:solidFill>
                <a:latin typeface="Calibri"/>
              </a:defRPr>
            </a:pPr>
            <a:r>
              <a:t>GQA Implementation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2834640"/>
            <a:ext cx="3931920" cy="38100"/>
          </a:xfrm>
          <a:prstGeom prst="rect">
            <a:avLst/>
          </a:prstGeom>
          <a:solidFill>
            <a:srgbClr val="2B6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2B6CB3"/>
                </a:solidFill>
                <a:latin typeface="Calibri"/>
              </a:defRPr>
            </a:pPr>
            <a:r>
              <a:t>WSE-3-GQA  vs  WSE-3-GQA-cheng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  <a:latin typeface="Calibri"/>
              </a:defRPr>
            </a:pPr>
            <a:r>
              <a:t>Two approaches to Grouped Query Attention on Cerebras WSE-3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Calibri"/>
              </a:defRPr>
            </a:pPr>
            <a:r>
              <a:t>WaferLLM  |  Decode Module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560320" cy="411480"/>
          </a:xfrm>
          <a:prstGeom prst="roundRect">
            <a:avLst/>
          </a:prstGeom>
          <a:solidFill>
            <a:srgbClr val="2B6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Why GQA on WaferLLM?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2743200" cy="38100"/>
          </a:xfrm>
          <a:prstGeom prst="rect">
            <a:avLst/>
          </a:prstGeom>
          <a:solidFill>
            <a:srgbClr val="2B6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000" b="1">
                <a:solidFill>
                  <a:srgbClr val="2B6CB3"/>
                </a:solidFill>
                <a:latin typeface="Calibri"/>
              </a:defRPr>
            </a:pPr>
            <a:r>
              <a:t>Multi-Head Attention (MHA)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Q, K, V all have the same number of heads (n_heads)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KV cache per PE: [dim_p_pe x seq_len_p_pe] -- scales linearly with n_heads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Memory-bound at long sequence lengths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600"/>
              </a:spcAft>
              <a:defRPr sz="2000" b="1">
                <a:solidFill>
                  <a:srgbClr val="278B5B"/>
                </a:solidFill>
                <a:latin typeface="Calibri"/>
              </a:defRPr>
            </a:pPr>
            <a:r>
              <a:t>Grouped Query Attention (GQA)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Fewer KV heads than Q heads (e.g., Llama-8B: 32 Q, 8 KV)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Multiple Q heads share one KV head (4:1 ratio)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Reduces KV cache memory and communication volume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600"/>
              </a:spcAft>
              <a:defRPr sz="2000" b="1">
                <a:solidFill>
                  <a:srgbClr val="C0392B"/>
                </a:solidFill>
                <a:latin typeface="Calibri"/>
              </a:defRPr>
            </a:pPr>
            <a:r>
              <a:t>Challenge on WSE-3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Data sharded across P x P PE mesh (e.g., 256 x 256)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Communication patterns tightly coupled to tensor dimensions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How to map asymmetric Q/KV heads to symmetric mesh?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737360"/>
            <a:ext cx="5303520" cy="4114800"/>
          </a:xfrm>
          <a:prstGeom prst="roundRect">
            <a:avLst/>
          </a:prstGeom>
          <a:solidFill>
            <a:srgbClr val="F0F0F0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1A1A2E"/>
                </a:solidFill>
                <a:latin typeface="Calibri"/>
              </a:defRPr>
            </a:pPr>
            <a:r>
              <a:t>MHA (Base)</a:t>
            </a:r>
          </a:p>
          <a:p>
            <a:pPr algn="ctr"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333333"/>
                </a:solidFill>
                <a:latin typeface="Consolas"/>
              </a:defRPr>
            </a:pPr>
            <a:r>
              <a:t>Q:[dim]  K:[dim]  V:[dim]</a:t>
            </a:r>
          </a:p>
          <a:p>
            <a:pPr algn="ctr">
              <a:spcBef>
                <a:spcPts val="0"/>
              </a:spcBef>
              <a:spcAft>
                <a:spcPts val="1600"/>
              </a:spcAft>
              <a:defRPr sz="1400" b="0">
                <a:solidFill>
                  <a:srgbClr val="666666"/>
                </a:solidFill>
                <a:latin typeface="Calibri"/>
              </a:defRPr>
            </a:pPr>
            <a:r>
              <a:t>n_heads = n_kv_heads = 32</a:t>
            </a:r>
          </a:p>
          <a:p>
            <a:pPr algn="ctr"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278B5B"/>
                </a:solidFill>
                <a:latin typeface="Calibri"/>
              </a:defRPr>
            </a:pPr>
            <a:r>
              <a:t>GQA (Target)</a:t>
            </a:r>
          </a:p>
          <a:p>
            <a:pPr algn="ctr"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333333"/>
                </a:solidFill>
                <a:latin typeface="Consolas"/>
              </a:defRPr>
            </a:pPr>
            <a:r>
              <a:t>Q:[dim]  K:[kv_dim]  V:[kv_dim]</a:t>
            </a:r>
          </a:p>
          <a:p>
            <a:pPr algn="ctr">
              <a:spcBef>
                <a:spcPts val="0"/>
              </a:spcBef>
              <a:spcAft>
                <a:spcPts val="1600"/>
              </a:spcAft>
              <a:defRPr sz="1400" b="0">
                <a:solidFill>
                  <a:srgbClr val="666666"/>
                </a:solidFill>
                <a:latin typeface="Calibri"/>
              </a:defRPr>
            </a:pPr>
            <a:r>
              <a:t>n_heads=32, n_kv_heads=8 (4:1 ratio)</a:t>
            </a:r>
          </a:p>
          <a:p>
            <a:pPr algn="ctr">
              <a:spcBef>
                <a:spcPts val="0"/>
              </a:spcBef>
              <a:spcAft>
                <a:spcPts val="400"/>
              </a:spcAft>
              <a:defRPr sz="1600" b="1">
                <a:solidFill>
                  <a:srgbClr val="1A1A2E"/>
                </a:solidFill>
                <a:latin typeface="Calibri"/>
              </a:defRPr>
            </a:pPr>
            <a:r>
              <a:t>Two design strategies:</a:t>
            </a:r>
          </a:p>
          <a:p>
            <a:pPr algn="ctr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B6CB3"/>
                </a:solidFill>
                <a:latin typeface="Calibri"/>
              </a:defRPr>
            </a:pPr>
            <a:r>
              <a:t>1. Dimensional: reshape tensors (smaller K/V dims)</a:t>
            </a:r>
          </a:p>
          <a:p>
            <a:pPr algn="ctr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E67E22"/>
                </a:solidFill>
                <a:latin typeface="Calibri"/>
              </a:defRPr>
            </a:pPr>
            <a:r>
              <a:t>2. Replicated: keep dims, offset into copies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560320" cy="411480"/>
          </a:xfrm>
          <a:prstGeom prst="roundRect">
            <a:avLst/>
          </a:prstGeom>
          <a:solidFill>
            <a:srgbClr val="2B6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At a Glance: Three-Way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2743200" cy="38100"/>
          </a:xfrm>
          <a:prstGeom prst="rect">
            <a:avLst/>
          </a:prstGeom>
          <a:solidFill>
            <a:srgbClr val="2B6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91640"/>
          <a:ext cx="110642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743200"/>
                <a:gridCol w="3200400"/>
                <a:gridCol w="3108960"/>
              </a:tblGrid>
              <a:tr h="457200">
                <a:tc>
                  <a:txBody>
                    <a:bodyPr wrap="square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2B6C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WSE-3 (Base/MHA)</a:t>
                      </a:r>
                    </a:p>
                  </a:txBody>
                  <a:tcPr anchor="ctr">
                    <a:solidFill>
                      <a:srgbClr val="2B6C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WSE-3-GQA</a:t>
                      </a:r>
                    </a:p>
                  </a:txBody>
                  <a:tcPr anchor="ctr">
                    <a:solidFill>
                      <a:srgbClr val="2B6C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WSE-3-GQA-cheng</a:t>
                      </a:r>
                    </a:p>
                  </a:txBody>
                  <a:tcPr anchor="ctr">
                    <a:solidFill>
                      <a:srgbClr val="2B6CB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GQA strategy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None (MHA)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Dimensional</a:t>
                      </a:r>
                      <a:br/>
                      <a:r>
                        <a:t>(asymmetric K/V dims)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Replicated-heads</a:t>
                      </a:r>
                      <a:br/>
                      <a:r>
                        <a:t>(runtime offset)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Total CSL delta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Baseline (2519 lines)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+1177 lines (+47%)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+35 lines (+1%)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K/V weight shape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[dim x dim]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[dim x kv_dim]  (4x smaller)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[n_kv x dim x dim]  (8x larger)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QKV tile layout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Symmetric [Q|K|V]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Asymmetric [Q|K|V]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Symmetric [Q|K|V]  (same)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Score tensor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[bsz x seq_len]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[groups x bsz x seq_len]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[bsz x seq_len]  (same)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GEMV variants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 (+2 new)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 (+1 new)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Comm reduce fns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~12 (+5 new)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~8 (+1 new)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RoPE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Enabled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Commented out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Enabled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SILU bug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Present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Inherited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Fixed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560320" cy="411480"/>
          </a:xfrm>
          <a:prstGeom prst="roundRect">
            <a:avLst/>
          </a:prstGeom>
          <a:solidFill>
            <a:srgbClr val="2B6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DESIGN PHILOSOPHY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Dimensional vs Replicated GQA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2743200" cy="38100"/>
          </a:xfrm>
          <a:prstGeom prst="rect">
            <a:avLst/>
          </a:prstGeom>
          <a:solidFill>
            <a:srgbClr val="2B6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03520" cy="4572000"/>
          </a:xfrm>
          <a:prstGeom prst="roundRect">
            <a:avLst/>
          </a:prstGeom>
          <a:solidFill>
            <a:srgbClr val="EEF4FB"/>
          </a:solidFill>
          <a:ln>
            <a:solidFill>
              <a:srgbClr val="2B6C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800"/>
              </a:spcAft>
              <a:defRPr sz="2200" b="1">
                <a:solidFill>
                  <a:srgbClr val="2B6CB3"/>
                </a:solidFill>
                <a:latin typeface="Calibri"/>
              </a:defRPr>
            </a:pPr>
            <a:r>
              <a:t>WSE-3-GQA: Dimensional</a:t>
            </a:r>
          </a:p>
          <a:p>
            <a:pPr algn="ctr">
              <a:spcBef>
                <a:spcPts val="0"/>
              </a:spcBef>
              <a:spcAft>
                <a:spcPts val="1200"/>
              </a:spcAft>
              <a:defRPr sz="1400" b="0">
                <a:solidFill>
                  <a:srgbClr val="666666"/>
                </a:solidFill>
                <a:latin typeface="Calibri"/>
              </a:defRPr>
            </a:pPr>
            <a:r>
              <a:t>Compile-time dimension reshaping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Consolas"/>
              </a:defRPr>
            </a:pPr>
            <a:r>
              <a:t>kv_dim_p_pe = (n_kv_heads * head_dim) / P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300" b="0">
                <a:solidFill>
                  <a:srgbClr val="333333"/>
                </a:solidFill>
                <a:latin typeface="Consolas"/>
              </a:defRPr>
            </a:pPr>
            <a:r>
              <a:t>gqa_group_size = dim_p_pe / kv_dim_p_pe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1A1A2E"/>
                </a:solidFill>
                <a:latin typeface="Calibri"/>
              </a:defRPr>
            </a:pPr>
            <a:r>
              <a:t>Llama-8B (P=256):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Consolas"/>
              </a:defRPr>
            </a:pPr>
            <a:r>
              <a:t>  Q:[16x16]  K:[16x4]  V:[16x4]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Consolas"/>
              </a:defRPr>
            </a:pPr>
            <a:r>
              <a:t>  QKV tile: [16 + 2*4 = 24]  (was 48)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1300" b="0">
                <a:solidFill>
                  <a:srgbClr val="333333"/>
                </a:solidFill>
                <a:latin typeface="Consolas"/>
              </a:defRPr>
            </a:pPr>
            <a:r>
              <a:t>  Score: [4 x bsz x seq_len]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600" b="1">
                <a:solidFill>
                  <a:srgbClr val="278B5B"/>
                </a:solidFill>
                <a:latin typeface="Calibri"/>
              </a:defRPr>
            </a:pPr>
            <a:r>
              <a:t>Pros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K/V memory shrinks by GQA ratio (4x for 4:1)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Less communication volume (asymmetric QKV reduce)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Includes KV cache mgmt + variable-length attention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600" b="1">
                <a:solidFill>
                  <a:srgbClr val="C0392B"/>
                </a:solidFill>
                <a:latin typeface="Calibri"/>
              </a:defRPr>
            </a:pPr>
            <a:r>
              <a:t>Cons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+47% CSL code -- heavy refactor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New axis mode, new GEMV variants, new comm fns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RoPE commented out (strided-DSD bug)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737360"/>
            <a:ext cx="5303520" cy="4572000"/>
          </a:xfrm>
          <a:prstGeom prst="roundRect">
            <a:avLst/>
          </a:prstGeom>
          <a:solidFill>
            <a:srgbClr val="FDF2E9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800"/>
              </a:spcAft>
              <a:defRPr sz="2200" b="1">
                <a:solidFill>
                  <a:srgbClr val="E67E22"/>
                </a:solidFill>
                <a:latin typeface="Calibri"/>
              </a:defRPr>
            </a:pPr>
            <a:r>
              <a:t>WSE-3-GQA-cheng: Replicated</a:t>
            </a:r>
          </a:p>
          <a:p>
            <a:pPr algn="ctr">
              <a:spcBef>
                <a:spcPts val="0"/>
              </a:spcBef>
              <a:spcAft>
                <a:spcPts val="1200"/>
              </a:spcAft>
              <a:defRPr sz="1400" b="0">
                <a:solidFill>
                  <a:srgbClr val="666666"/>
                </a:solidFill>
                <a:latin typeface="Calibri"/>
              </a:defRPr>
            </a:pPr>
            <a:r>
              <a:t>Runtime offset into replicated heads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Consolas"/>
              </a:defRPr>
            </a:pPr>
            <a:r>
              <a:t>kv_head_id = quotient_x % n_kv_heads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300" b="0">
                <a:solidFill>
                  <a:srgbClr val="333333"/>
                </a:solidFill>
                <a:latin typeface="Consolas"/>
              </a:defRPr>
            </a:pPr>
            <a:r>
              <a:t>k_offset = kv_head_id * dim_p_pe * dim_p_pe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1A1A2E"/>
                </a:solidFill>
                <a:latin typeface="Calibri"/>
              </a:defRPr>
            </a:pPr>
            <a:r>
              <a:t>Llama-8B (P=256):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Consolas"/>
              </a:defRPr>
            </a:pPr>
            <a:r>
              <a:t>  Q:[16x16]  K:[8*16x16]  V:[8*16x16]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Consolas"/>
              </a:defRPr>
            </a:pPr>
            <a:r>
              <a:t>  QKV tile: [3*16 = 48]  (same as base)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1300" b="0">
                <a:solidFill>
                  <a:srgbClr val="333333"/>
                </a:solidFill>
                <a:latin typeface="Consolas"/>
              </a:defRPr>
            </a:pPr>
            <a:r>
              <a:t>  Score: [bsz x seq_len]  (same as base)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600" b="1">
                <a:solidFill>
                  <a:srgbClr val="278B5B"/>
                </a:solidFill>
                <a:latin typeface="Calibri"/>
              </a:defRPr>
            </a:pPr>
            <a:r>
              <a:t>Pros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Only +1% CSL code -- minimal structural changes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RoPE preserved, SILU bug fixed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Comm library essentially unchanged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600" b="1">
                <a:solidFill>
                  <a:srgbClr val="C0392B"/>
                </a:solidFill>
                <a:latin typeface="Calibri"/>
              </a:defRPr>
            </a:pPr>
            <a:r>
              <a:t>Cons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K/V memory grows by n_kv_heads (8x for 8 heads)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Same communication volume as MHA (no reduction)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No KV cache mgmt or variable-length attention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560320" cy="411480"/>
          </a:xfrm>
          <a:prstGeom prst="roundRect">
            <a:avLst/>
          </a:prstGeom>
          <a:solidFill>
            <a:srgbClr val="2B6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MEMORY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Calibri"/>
              </a:defRPr>
            </a:pPr>
            <a:r>
              <a:t>Per-PE Memory Comparison (Llama-8B, P=256, 4:1 GQA)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2743200" cy="38100"/>
          </a:xfrm>
          <a:prstGeom prst="rect">
            <a:avLst/>
          </a:prstGeom>
          <a:solidFill>
            <a:srgbClr val="2B6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91640"/>
          <a:ext cx="11064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2240280"/>
                <a:gridCol w="2240280"/>
              </a:tblGrid>
              <a:tr h="400050">
                <a:tc>
                  <a:txBody>
                    <a:bodyPr wrap="square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Buffer</a:t>
                      </a:r>
                    </a:p>
                  </a:txBody>
                  <a:tcPr anchor="ctr">
                    <a:solidFill>
                      <a:srgbClr val="2B6C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Base (MHA)</a:t>
                      </a:r>
                    </a:p>
                  </a:txBody>
                  <a:tcPr anchor="ctr">
                    <a:solidFill>
                      <a:srgbClr val="2B6C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WSE-3-GQA</a:t>
                      </a:r>
                    </a:p>
                  </a:txBody>
                  <a:tcPr anchor="ctr">
                    <a:solidFill>
                      <a:srgbClr val="2B6C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GQA-cheng</a:t>
                      </a:r>
                    </a:p>
                  </a:txBody>
                  <a:tcPr anchor="ctr">
                    <a:solidFill>
                      <a:srgbClr val="2B6C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GQA vs Base</a:t>
                      </a:r>
                    </a:p>
                  </a:txBody>
                  <a:tcPr anchor="ctr">
                    <a:solidFill>
                      <a:srgbClr val="2B6C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cheng vs Base</a:t>
                      </a:r>
                    </a:p>
                  </a:txBody>
                  <a:tcPr anchor="ctr">
                    <a:solidFill>
                      <a:srgbClr val="2B6CB3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Q weight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256 f16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256 f16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256 f16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K weight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256 f16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64 f16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2048 f16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278B5B"/>
                          </a:solidFill>
                          <a:latin typeface="Calibri"/>
                        </a:defRPr>
                      </a:pPr>
                      <a:r>
                        <a:t>4x smaller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C0392B"/>
                          </a:solidFill>
                          <a:latin typeface="Calibri"/>
                        </a:defRPr>
                      </a:pPr>
                      <a:r>
                        <a:t>8x larger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V weight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256 f16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64 f16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2048 f16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278B5B"/>
                          </a:solidFill>
                          <a:latin typeface="Calibri"/>
                        </a:defRPr>
                      </a:pPr>
                      <a:r>
                        <a:t>4x smaller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C0392B"/>
                          </a:solidFill>
                          <a:latin typeface="Calibri"/>
                        </a:defRPr>
                      </a:pPr>
                      <a:r>
                        <a:t>8x larger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KV cache (K)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320 f16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80 f16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2560 f16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278B5B"/>
                          </a:solidFill>
                          <a:latin typeface="Calibri"/>
                        </a:defRPr>
                      </a:pPr>
                      <a:r>
                        <a:t>4x smaller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C0392B"/>
                          </a:solidFill>
                          <a:latin typeface="Calibri"/>
                        </a:defRPr>
                      </a:pPr>
                      <a:r>
                        <a:t>8x larger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KV cache (V)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320 f16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80 f16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2560 f16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278B5B"/>
                          </a:solidFill>
                          <a:latin typeface="Calibri"/>
                        </a:defRPr>
                      </a:pPr>
                      <a:r>
                        <a:t>4x smaller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C0392B"/>
                          </a:solidFill>
                          <a:latin typeface="Calibri"/>
                        </a:defRPr>
                      </a:pPr>
                      <a:r>
                        <a:t>8x larger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Score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 f16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80 f16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 f16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C0392B"/>
                          </a:solidFill>
                          <a:latin typeface="Calibri"/>
                        </a:defRPr>
                      </a:pPr>
                      <a:r>
                        <a:t>4x larger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--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QKV tile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48 f16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24 f16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48 f16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278B5B"/>
                          </a:solidFill>
                          <a:latin typeface="Calibri"/>
                        </a:defRPr>
                      </a:pPr>
                      <a:r>
                        <a:t>2x smaller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5120640"/>
            <a:ext cx="11064240" cy="1188720"/>
          </a:xfrm>
          <a:prstGeom prst="roundRect">
            <a:avLst/>
          </a:prstGeom>
          <a:solidFill>
            <a:srgbClr val="FDF9ED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400"/>
              </a:spcAft>
              <a:defRPr sz="1600" b="1">
                <a:solidFill>
                  <a:srgbClr val="E67E22"/>
                </a:solidFill>
                <a:latin typeface="Calibri"/>
              </a:defRPr>
            </a:pPr>
            <a:r>
              <a:t>  Key Insight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WSE-3-GQA reduces K/V memory by the GQA ratio (4x for 4:1) but expands score buffers.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WSE-3-GQA-cheng increases K/V memory by n_kv_heads (8x) because every PE stores all heads.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For large models with many KV heads, the dimensional approach saves significant per-PE memory.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560320" cy="411480"/>
          </a:xfrm>
          <a:prstGeom prst="roundRect">
            <a:avLst/>
          </a:prstGeom>
          <a:solidFill>
            <a:srgbClr val="2B6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CODE CHANGES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QKV Projection &amp; Tile Layout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2743200" cy="38100"/>
          </a:xfrm>
          <a:prstGeom prst="rect">
            <a:avLst/>
          </a:prstGeom>
          <a:solidFill>
            <a:srgbClr val="2B6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03520" cy="4389120"/>
          </a:xfrm>
          <a:prstGeom prst="roundRect">
            <a:avLst/>
          </a:prstGeom>
          <a:solidFill>
            <a:srgbClr val="F0F0F0"/>
          </a:solidFill>
          <a:ln>
            <a:solidFill>
              <a:srgbClr val="2B6C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0"/>
              </a:spcAft>
              <a:defRPr sz="1800" b="1">
                <a:solidFill>
                  <a:srgbClr val="2B6CB3"/>
                </a:solidFill>
                <a:latin typeface="Calibri"/>
              </a:defRPr>
            </a:pPr>
            <a:r>
              <a:t>WSE-3-GQA: Asymmetric Reshape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666666"/>
                </a:solidFill>
                <a:latin typeface="Consolas"/>
              </a:defRPr>
            </a:pPr>
            <a:r>
              <a:t>// QKV tile restructured: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C0392B"/>
                </a:solidFill>
                <a:latin typeface="Consolas"/>
              </a:defRPr>
            </a:pPr>
            <a:r>
              <a:t>- var QKV_tile: [bsz * 3 * dim_p_pe]f16;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200" b="0">
                <a:solidFill>
                  <a:srgbClr val="278B5B"/>
                </a:solidFill>
                <a:latin typeface="Consolas"/>
              </a:defRPr>
            </a:pPr>
            <a:r>
              <a:t>+ var QKV_tile: [bsz*(dim_p_pe+2*kv_dim_p_pe)]f16;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666666"/>
                </a:solidFill>
                <a:latin typeface="Consolas"/>
              </a:defRPr>
            </a:pPr>
            <a:r>
              <a:t>// K projection output shrinks: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C0392B"/>
                </a:solidFill>
                <a:latin typeface="Consolas"/>
              </a:defRPr>
            </a:pPr>
            <a:r>
              <a:t>- Kt = dim_p_pe;  Nt = dim_p_pe;   // 16-&gt;16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200" b="0">
                <a:solidFill>
                  <a:srgbClr val="278B5B"/>
                </a:solidFill>
                <a:latin typeface="Consolas"/>
              </a:defRPr>
            </a:pPr>
            <a:r>
              <a:t>+ Kt = dim_p_pe;  Nt = kv_dim_p_pe; // 16-&gt;4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666666"/>
                </a:solidFill>
                <a:latin typeface="Consolas"/>
              </a:defRPr>
            </a:pPr>
            <a:r>
              <a:t>// QKV reduce volume: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Consolas"/>
              </a:defRPr>
            </a:pPr>
            <a:r>
              <a:t>  3*dim_p_pe  -&gt;  dim_p_pe + 2*kv_dim_p_pe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1">
                <a:solidFill>
                  <a:srgbClr val="278B5B"/>
                </a:solidFill>
                <a:latin typeface="Consolas"/>
              </a:defRPr>
            </a:pPr>
            <a:r>
              <a:t>  48 -&gt; 24  (50% less communication)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737360"/>
            <a:ext cx="5303520" cy="4389120"/>
          </a:xfrm>
          <a:prstGeom prst="roundRect">
            <a:avLst/>
          </a:prstGeom>
          <a:solidFill>
            <a:srgbClr val="F0F0F0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0"/>
              </a:spcAft>
              <a:defRPr sz="1800" b="1">
                <a:solidFill>
                  <a:srgbClr val="E67E22"/>
                </a:solidFill>
                <a:latin typeface="Calibri"/>
              </a:defRPr>
            </a:pPr>
            <a:r>
              <a:t>WSE-3-GQA-cheng: Same Layout, Offset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666666"/>
                </a:solidFill>
                <a:latin typeface="Consolas"/>
              </a:defRPr>
            </a:pPr>
            <a:r>
              <a:t>// QKV tile UNCHANGED: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200" b="0">
                <a:solidFill>
                  <a:srgbClr val="333333"/>
                </a:solidFill>
                <a:latin typeface="Consolas"/>
              </a:defRPr>
            </a:pPr>
            <a:r>
              <a:t>  var QKV_tile: [bsz * 3 * dim_p_pe]f16;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666666"/>
                </a:solidFill>
                <a:latin typeface="Consolas"/>
              </a:defRPr>
            </a:pPr>
            <a:r>
              <a:t>// K projection -- only add offset: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278B5B"/>
                </a:solidFill>
                <a:latin typeface="Consolas"/>
              </a:defRPr>
            </a:pPr>
            <a:r>
              <a:t>+ var k_off = kv_head_id*dim*dim;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278B5B"/>
                </a:solidFill>
                <a:latin typeface="Consolas"/>
              </a:defRPr>
            </a:pPr>
            <a:r>
              <a:t>+ right_dsd = @increment_dsd_offset(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278B5B"/>
                </a:solidFill>
                <a:latin typeface="Consolas"/>
              </a:defRPr>
            </a:pPr>
            <a:r>
              <a:t>+     right_dsd, k_off, f16);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200" b="0">
                <a:solidFill>
                  <a:srgbClr val="333333"/>
                </a:solidFill>
                <a:latin typeface="Consolas"/>
              </a:defRPr>
            </a:pPr>
            <a:r>
              <a:t>  Kt=dim_p_pe; Nt=dim_p_pe; // same dims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666666"/>
                </a:solidFill>
                <a:latin typeface="Consolas"/>
              </a:defRPr>
            </a:pPr>
            <a:r>
              <a:t>// QKV reduce volume: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Consolas"/>
              </a:defRPr>
            </a:pPr>
            <a:r>
              <a:t>  3*dim_p_pe (unchanged from base)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1">
                <a:solidFill>
                  <a:srgbClr val="C0392B"/>
                </a:solidFill>
                <a:latin typeface="Consolas"/>
              </a:defRPr>
            </a:pPr>
            <a:r>
              <a:t>  48 -&gt; 48  (no reduction in comm)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560320" cy="411480"/>
          </a:xfrm>
          <a:prstGeom prst="roundRect">
            <a:avLst/>
          </a:prstGeom>
          <a:solidFill>
            <a:srgbClr val="2B6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CODE CHANGES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Attention Score Computation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2743200" cy="38100"/>
          </a:xfrm>
          <a:prstGeom prst="rect">
            <a:avLst/>
          </a:prstGeom>
          <a:solidFill>
            <a:srgbClr val="2B6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03520" cy="4572000"/>
          </a:xfrm>
          <a:prstGeom prst="roundRect">
            <a:avLst/>
          </a:prstGeom>
          <a:solidFill>
            <a:srgbClr val="F0F0F0"/>
          </a:solidFill>
          <a:ln>
            <a:solidFill>
              <a:srgbClr val="2B6C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800"/>
              </a:spcAft>
              <a:defRPr sz="1800" b="1">
                <a:solidFill>
                  <a:srgbClr val="2B6CB3"/>
                </a:solidFill>
                <a:latin typeface="Calibri"/>
              </a:defRPr>
            </a:pPr>
            <a:r>
              <a:t>WSE-3-GQA (+80 lines)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333333"/>
                </a:solidFill>
                <a:latin typeface="Calibri"/>
              </a:defRPr>
            </a:pPr>
            <a:r>
              <a:t>Multi-group, variable-length, head-scoped: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Consolas"/>
              </a:defRPr>
            </a:pPr>
            <a:r>
              <a:t>fn score_matvec_mult() {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278B5B"/>
                </a:solidFill>
                <a:latin typeface="Consolas"/>
              </a:defRPr>
            </a:pPr>
            <a:r>
              <a:t>  for (b in bsz) {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278B5B"/>
                </a:solidFill>
                <a:latin typeface="Consolas"/>
              </a:defRPr>
            </a:pPr>
            <a:r>
              <a:t>    for (g in gqa_group_size) {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278B5B"/>
                </a:solidFill>
                <a:latin typeface="Consolas"/>
              </a:defRPr>
            </a:pPr>
            <a:r>
              <a:t>      score[g,b,:] = Q[b,g,:] @ K[b]^T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278B5B"/>
                </a:solidFill>
                <a:latin typeface="Consolas"/>
              </a:defRPr>
            </a:pPr>
            <a:r>
              <a:t>    }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278B5B"/>
                </a:solidFill>
                <a:latin typeface="Consolas"/>
              </a:defRPr>
            </a:pPr>
            <a:r>
              <a:t>  }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278B5B"/>
                </a:solidFill>
                <a:latin typeface="Consolas"/>
              </a:defRPr>
            </a:pPr>
            <a:r>
              <a:t>  Kt=kv_dim; Nt=iter_num; // var-len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278B5B"/>
                </a:solidFill>
                <a:latin typeface="Consolas"/>
              </a:defRPr>
            </a:pPr>
            <a:r>
              <a:t>  vecmat_var_right_2d_strided();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278B5B"/>
                </a:solidFill>
                <a:latin typeface="Consolas"/>
              </a:defRPr>
            </a:pPr>
            <a:r>
              <a:t>  all_reduce_kv_head_scoped(); //NEW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200" b="0">
                <a:solidFill>
                  <a:srgbClr val="333333"/>
                </a:solidFill>
                <a:latin typeface="Consolas"/>
              </a:defRPr>
            </a:pPr>
            <a:r>
              <a:t>}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C0392B"/>
                </a:solidFill>
                <a:latin typeface="Calibri"/>
              </a:defRPr>
            </a:pPr>
            <a:r>
              <a:t>New: nested loops, 2 GEMV variants,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1">
                <a:solidFill>
                  <a:srgbClr val="C0392B"/>
                </a:solidFill>
                <a:latin typeface="Calibri"/>
              </a:defRPr>
            </a:pPr>
            <a:r>
              <a:t>new axis=3 comm mode, head-scoped reduce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737360"/>
            <a:ext cx="5303520" cy="4572000"/>
          </a:xfrm>
          <a:prstGeom prst="roundRect">
            <a:avLst/>
          </a:prstGeom>
          <a:solidFill>
            <a:srgbClr val="F0F0F0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800"/>
              </a:spcAft>
              <a:defRPr sz="1800" b="1">
                <a:solidFill>
                  <a:srgbClr val="E67E22"/>
                </a:solidFill>
                <a:latin typeface="Calibri"/>
              </a:defRPr>
            </a:pPr>
            <a:r>
              <a:t>WSE-3-GQA-cheng (+4 lines)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333333"/>
                </a:solidFill>
                <a:latin typeface="Calibri"/>
              </a:defRPr>
            </a:pPr>
            <a:r>
              <a:t>DSD offset, same structure: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Consolas"/>
              </a:defRPr>
            </a:pPr>
            <a:r>
              <a:t>fn score_matvec_mult() {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278B5B"/>
                </a:solidFill>
                <a:latin typeface="Consolas"/>
              </a:defRPr>
            </a:pPr>
            <a:r>
              <a:t>+ var xk_off = kv_head_id*dim*seq;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278B5B"/>
                </a:solidFill>
                <a:latin typeface="Consolas"/>
              </a:defRPr>
            </a:pPr>
            <a:r>
              <a:t>+ right_dsd = @set_dsd_base_addr(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278B5B"/>
                </a:solidFill>
                <a:latin typeface="Consolas"/>
              </a:defRPr>
            </a:pPr>
            <a:r>
              <a:t>+     right_dsd, ptr_XKCache);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278B5B"/>
                </a:solidFill>
                <a:latin typeface="Consolas"/>
              </a:defRPr>
            </a:pPr>
            <a:r>
              <a:t>+ right_dsd = @increment_dsd_offset(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278B5B"/>
                </a:solidFill>
                <a:latin typeface="Consolas"/>
              </a:defRPr>
            </a:pPr>
            <a:r>
              <a:t>+     right_dsd, xk_off, f16);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Consolas"/>
              </a:defRPr>
            </a:pPr>
            <a:r>
              <a:t>  Kt=dim_p_pe; Nt=seq_len_p_pe;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C0392B"/>
                </a:solidFill>
                <a:latin typeface="Consolas"/>
              </a:defRPr>
            </a:pPr>
            <a:r>
              <a:t>- vecmat_computation();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278B5B"/>
                </a:solidFill>
                <a:latin typeface="Consolas"/>
              </a:defRPr>
            </a:pPr>
            <a:r>
              <a:t>+ vecmat_computation_dsd();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Consolas"/>
              </a:defRPr>
            </a:pPr>
            <a:r>
              <a:t>  all_reduce_bsz_seq_len(); // same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200" b="0">
                <a:solidFill>
                  <a:srgbClr val="333333"/>
                </a:solidFill>
                <a:latin typeface="Consolas"/>
              </a:defRPr>
            </a:pPr>
            <a:r>
              <a:t>}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278B5B"/>
                </a:solidFill>
                <a:latin typeface="Calibri"/>
              </a:defRPr>
            </a:pPr>
            <a:r>
              <a:t>Minimal: offset into replicated cache,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1">
                <a:solidFill>
                  <a:srgbClr val="278B5B"/>
                </a:solidFill>
                <a:latin typeface="Calibri"/>
              </a:defRPr>
            </a:pPr>
            <a:r>
              <a:t>swap to DSD-snapshot GEMV variant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560320" cy="411480"/>
          </a:xfrm>
          <a:prstGeom prst="roundRect">
            <a:avLst/>
          </a:prstGeom>
          <a:solidFill>
            <a:srgbClr val="2B6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COMMUNICATION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Communication Library: The Biggest Delta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2743200" cy="38100"/>
          </a:xfrm>
          <a:prstGeom prst="rect">
            <a:avLst/>
          </a:prstGeom>
          <a:solidFill>
            <a:srgbClr val="2B6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91640"/>
          <a:ext cx="1106424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554480"/>
                <a:gridCol w="1737360"/>
                <a:gridCol w="1828800"/>
                <a:gridCol w="1737360"/>
                <a:gridCol w="2194560"/>
              </a:tblGrid>
              <a:tr h="420624">
                <a:tc>
                  <a:txBody>
                    <a:bodyPr wrap="square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Component</a:t>
                      </a:r>
                    </a:p>
                  </a:txBody>
                  <a:tcPr anchor="ctr">
                    <a:solidFill>
                      <a:srgbClr val="2B6C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Base</a:t>
                      </a:r>
                    </a:p>
                  </a:txBody>
                  <a:tcPr anchor="ctr">
                    <a:solidFill>
                      <a:srgbClr val="2B6C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WSE-3-GQA</a:t>
                      </a:r>
                    </a:p>
                  </a:txBody>
                  <a:tcPr anchor="ctr">
                    <a:solidFill>
                      <a:srgbClr val="2B6C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Delta</a:t>
                      </a:r>
                    </a:p>
                  </a:txBody>
                  <a:tcPr anchor="ctr">
                    <a:solidFill>
                      <a:srgbClr val="2B6C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GQA-cheng</a:t>
                      </a:r>
                    </a:p>
                  </a:txBody>
                  <a:tcPr anchor="ctr">
                    <a:solidFill>
                      <a:srgbClr val="2B6C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Delta</a:t>
                      </a:r>
                    </a:p>
                  </a:txBody>
                  <a:tcPr anchor="ctr">
                    <a:solidFill>
                      <a:srgbClr val="2B6CB3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comm_pe.csl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1035 lines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1708 lines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C0392B"/>
                          </a:solidFill>
                          <a:latin typeface="Calibri"/>
                        </a:defRPr>
                      </a:pPr>
                      <a:r>
                        <a:t>+673 (+65%)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1086 lines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278B5B"/>
                          </a:solidFill>
                          <a:latin typeface="Calibri"/>
                        </a:defRPr>
                      </a:pPr>
                      <a:r>
                        <a:t>+51 (+5%)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comm_layout.csl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405 lines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575 lines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C0392B"/>
                          </a:solidFill>
                          <a:latin typeface="Calibri"/>
                        </a:defRPr>
                      </a:pPr>
                      <a:r>
                        <a:t>+170 (+42%)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406 lines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278B5B"/>
                          </a:solidFill>
                          <a:latin typeface="Calibri"/>
                        </a:defRPr>
                      </a:pPr>
                      <a:r>
                        <a:t>+1 (+0%)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Reduce functions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C0392B"/>
                          </a:solidFill>
                          <a:latin typeface="Calibri"/>
                        </a:defRPr>
                      </a:pPr>
                      <a:r>
                        <a:t>+5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Axis modes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 (X, Y)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 (X, Y, KV-head)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+1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 (X, Y)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278B5B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023360"/>
            <a:ext cx="5303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600" b="1">
                <a:solidFill>
                  <a:srgbClr val="2B6CB3"/>
                </a:solidFill>
                <a:latin typeface="Calibri"/>
              </a:defRPr>
            </a:pPr>
            <a:r>
              <a:t>WSE-3-GQA: New Communication Functions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all_reduce_bsz_g()  -- group-extended softmax sum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all_reduceMax_bsz_g()  -- group-extended softmax max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all_reduce_bsz_g_var_seq_len_kv_head_scoped()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t>    Head-scoped variable-length score reduce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all_reduce_bsz_var_seq_len_strided()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reconfig_allreduce_axis(3)  -- new KV-head-scoped X-axis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4023360"/>
            <a:ext cx="5303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600" b="1">
                <a:solidFill>
                  <a:srgbClr val="E67E22"/>
                </a:solidFill>
                <a:latin typeface="Calibri"/>
              </a:defRPr>
            </a:pPr>
            <a:r>
              <a:t>WSE-3-GQA-cheng: Minimal Additions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all_reduce_bsz_g()  -- placeholder (~50 lines)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666666"/>
                </a:solidFill>
                <a:latin typeface="Calibri"/>
              </a:defRPr>
            </a:pPr>
            <a:r>
              <a:t>Communication library essentially unchanged from base.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666666"/>
                </a:solidFill>
                <a:latin typeface="Calibri"/>
              </a:defRPr>
            </a:pPr>
            <a:r>
              <a:t>No new axis modes, no new routing topology.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278B5B"/>
                </a:solidFill>
                <a:latin typeface="Calibri"/>
              </a:defRPr>
            </a:pPr>
            <a:r>
              <a:t>comm_layout.csl delta: +1 line (+0.2%)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560320" cy="411480"/>
          </a:xfrm>
          <a:prstGeom prst="roundRect">
            <a:avLst/>
          </a:prstGeom>
          <a:solidFill>
            <a:srgbClr val="2B6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Calibri"/>
              </a:defRPr>
            </a:pPr>
            <a:r>
              <a:t>Decode Pipeline: Three-Way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2743200" cy="38100"/>
          </a:xfrm>
          <a:prstGeom prst="rect">
            <a:avLst/>
          </a:prstGeom>
          <a:solidFill>
            <a:srgbClr val="2B6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691640"/>
          <a:ext cx="11430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3017520"/>
                <a:gridCol w="4114800"/>
                <a:gridCol w="3383280"/>
              </a:tblGrid>
              <a:tr h="457200">
                <a:tc>
                  <a:txBody>
                    <a:bodyPr wrap="square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Step</a:t>
                      </a:r>
                    </a:p>
                  </a:txBody>
                  <a:tcPr anchor="ctr">
                    <a:solidFill>
                      <a:srgbClr val="2B6C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Base (WSE-3)</a:t>
                      </a:r>
                    </a:p>
                  </a:txBody>
                  <a:tcPr anchor="ctr">
                    <a:solidFill>
                      <a:srgbClr val="2B6C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WSE-3-GQA</a:t>
                      </a:r>
                    </a:p>
                  </a:txBody>
                  <a:tcPr anchor="ctr">
                    <a:solidFill>
                      <a:srgbClr val="2B6C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WSE-3-GQA-cheng</a:t>
                      </a:r>
                    </a:p>
                  </a:txBody>
                  <a:tcPr anchor="ctr">
                    <a:solidFill>
                      <a:srgbClr val="2B6CB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1-2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RMSNorm, Q proj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Same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Same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3-4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K proj [dim-&gt;dim]</a:t>
                      </a:r>
                      <a:br/>
                      <a:r>
                        <a:t>V proj [dim-&gt;dim]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K proj [dim-&gt;KV_DIM]</a:t>
                      </a:r>
                      <a:br/>
                      <a:r>
                        <a:t>V proj [dim-&gt;KV_DIM]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E67E22"/>
                          </a:solidFill>
                          <a:latin typeface="Calibri"/>
                        </a:defRPr>
                      </a:pPr>
                      <a:r>
                        <a:t>K proj [dim-&gt;dim, OFFSET]</a:t>
                      </a:r>
                      <a:br/>
                      <a:r>
                        <a:t>V proj [dim-&gt;dim, OFFSET]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Reduce QKV [3*dim]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Reduce QKV [dim+2*kv]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E67E22"/>
                          </a:solidFill>
                          <a:latin typeface="Calibri"/>
                        </a:defRPr>
                      </a:pPr>
                      <a:r>
                        <a:t>Reduce QKV [3*dim]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6-8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Reconfig(0), RoPE Q+K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C0392B"/>
                          </a:solidFill>
                          <a:latin typeface="Calibri"/>
                        </a:defRPr>
                      </a:pPr>
                      <a:r>
                        <a:t>Reconfig(0), RoPE OFF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Reconfig(0), RoPE Q+K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9-10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1">
                          <a:solidFill>
                            <a:srgbClr val="2B6CB3"/>
                          </a:solidFill>
                          <a:latin typeface="Calibri"/>
                        </a:defRPr>
                      </a:pPr>
                      <a:r>
                        <a:t>PROCESS_KV()</a:t>
                      </a:r>
                      <a:br/>
                      <a:r>
                        <a:t>RECONFIG(3) head-scoped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Score [dim x seq]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1">
                          <a:solidFill>
                            <a:srgbClr val="2B6CB3"/>
                          </a:solidFill>
                          <a:latin typeface="Calibri"/>
                        </a:defRPr>
                      </a:pPr>
                      <a:r>
                        <a:t>Score MULTI-GROUP</a:t>
                      </a:r>
                      <a:br/>
                      <a:r>
                        <a:t>VAR-LEN, HEAD-SCOPED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E67E22"/>
                          </a:solidFill>
                          <a:latin typeface="Calibri"/>
                        </a:defRPr>
                      </a:pPr>
                      <a:r>
                        <a:t>Score [dim x seq, OFFSET]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12-13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Reconfig(1), Softmax</a:t>
                      </a:r>
                      <a:br/>
                      <a:r>
                        <a:t>[bsz scalars]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1">
                          <a:solidFill>
                            <a:srgbClr val="2B6CB3"/>
                          </a:solidFill>
                          <a:latin typeface="Calibri"/>
                        </a:defRPr>
                      </a:pPr>
                      <a:r>
                        <a:t>Reconfig(1), Softmax</a:t>
                      </a:r>
                      <a:br/>
                      <a:r>
                        <a:t>[groups*bsz scalars, VAR]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Reconfig(1), Softmax</a:t>
                      </a:r>
                      <a:br/>
                      <a:r>
                        <a:t>[bsz scalars]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Output [seq x dim]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1">
                          <a:solidFill>
                            <a:srgbClr val="2B6CB3"/>
                          </a:solidFill>
                          <a:latin typeface="Calibri"/>
                        </a:defRPr>
                      </a:pPr>
                      <a:r>
                        <a:t>Output MULTI-GROUP</a:t>
                      </a:r>
                      <a:br/>
                      <a:r>
                        <a:t>VAR-LEN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E67E22"/>
                          </a:solidFill>
                          <a:latin typeface="Calibri"/>
                        </a:defRPr>
                      </a:pPr>
                      <a:r>
                        <a:t>Output [seq x dim, OFFSET]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15-21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O-proj, Residual, FFN</a:t>
                      </a:r>
                      <a:br/>
                      <a:r>
                        <a:t>(up+gate, reduce, SILU)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C0392B"/>
                          </a:solidFill>
                          <a:latin typeface="Calibri"/>
                        </a:defRPr>
                      </a:pPr>
                      <a:r>
                        <a:t>Same pipeline</a:t>
                      </a:r>
                      <a:br/>
                      <a:r>
                        <a:t>(SILU bug inherited)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1">
                          <a:solidFill>
                            <a:srgbClr val="278B5B"/>
                          </a:solidFill>
                          <a:latin typeface="Calibri"/>
                        </a:defRPr>
                      </a:pPr>
                      <a:r>
                        <a:t>Same pipeline</a:t>
                      </a:r>
                      <a:br/>
                      <a:r>
                        <a:t>(SILU bug FIXED)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560320" cy="411480"/>
          </a:xfrm>
          <a:prstGeom prst="roundRect">
            <a:avLst/>
          </a:prstGeom>
          <a:solidFill>
            <a:srgbClr val="2B6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COMPLEXITY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Code Complexity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2743200" cy="38100"/>
          </a:xfrm>
          <a:prstGeom prst="rect">
            <a:avLst/>
          </a:prstGeom>
          <a:solidFill>
            <a:srgbClr val="2B6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91640"/>
          <a:ext cx="11064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371600"/>
                <a:gridCol w="1645920"/>
                <a:gridCol w="2103120"/>
                <a:gridCol w="1645920"/>
                <a:gridCol w="2286000"/>
              </a:tblGrid>
              <a:tr h="411480">
                <a:tc>
                  <a:txBody>
                    <a:bodyPr wrap="square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2B6C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Base</a:t>
                      </a:r>
                    </a:p>
                  </a:txBody>
                  <a:tcPr anchor="ctr">
                    <a:solidFill>
                      <a:srgbClr val="2B6C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WSE-3-GQA</a:t>
                      </a:r>
                    </a:p>
                  </a:txBody>
                  <a:tcPr anchor="ctr">
                    <a:solidFill>
                      <a:srgbClr val="2B6C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Delta</a:t>
                      </a:r>
                    </a:p>
                  </a:txBody>
                  <a:tcPr anchor="ctr">
                    <a:solidFill>
                      <a:srgbClr val="2B6C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GQA-cheng</a:t>
                      </a:r>
                    </a:p>
                  </a:txBody>
                  <a:tcPr anchor="ctr">
                    <a:solidFill>
                      <a:srgbClr val="2B6C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Delta</a:t>
                      </a:r>
                    </a:p>
                  </a:txBody>
                  <a:tcPr anchor="ctr">
                    <a:solidFill>
                      <a:srgbClr val="2B6CB3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decode.csl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965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1282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C0392B"/>
                          </a:solidFill>
                          <a:latin typeface="Calibri"/>
                        </a:defRPr>
                      </a:pPr>
                      <a:r>
                        <a:t>+317 (+33%)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278B5B"/>
                          </a:solidFill>
                          <a:latin typeface="Calibri"/>
                        </a:defRPr>
                      </a:pPr>
                      <a:r>
                        <a:t>-23 (-2%)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comm_pe.csl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1035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1708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C0392B"/>
                          </a:solidFill>
                          <a:latin typeface="Calibri"/>
                        </a:defRPr>
                      </a:pPr>
                      <a:r>
                        <a:t>+673 (+65%)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1086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278B5B"/>
                          </a:solidFill>
                          <a:latin typeface="Calibri"/>
                        </a:defRPr>
                      </a:pPr>
                      <a:r>
                        <a:t>+51 (+5%)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comm_layout.csl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C0392B"/>
                          </a:solidFill>
                          <a:latin typeface="Calibri"/>
                        </a:defRPr>
                      </a:pPr>
                      <a:r>
                        <a:t>+170 (+42%)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278B5B"/>
                          </a:solidFill>
                          <a:latin typeface="Calibri"/>
                        </a:defRPr>
                      </a:pPr>
                      <a:r>
                        <a:t>+1 (+0%)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layout.csl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114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131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C0392B"/>
                          </a:solidFill>
                          <a:latin typeface="Calibri"/>
                        </a:defRPr>
                      </a:pPr>
                      <a:r>
                        <a:t>+17 (+15%)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120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278B5B"/>
                          </a:solidFill>
                          <a:latin typeface="Calibri"/>
                        </a:defRPr>
                      </a:pPr>
                      <a:r>
                        <a:t>+6 (+5%)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defRPr sz="13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Total CSL</a:t>
                      </a:r>
                    </a:p>
                  </a:txBody>
                  <a:tcPr anchor="ctr">
                    <a:solidFill>
                      <a:srgbClr val="E8EE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2519</a:t>
                      </a:r>
                    </a:p>
                  </a:txBody>
                  <a:tcPr anchor="ctr">
                    <a:solidFill>
                      <a:srgbClr val="E8EE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3696</a:t>
                      </a:r>
                    </a:p>
                  </a:txBody>
                  <a:tcPr anchor="ctr">
                    <a:solidFill>
                      <a:srgbClr val="E8EE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+1177 (+47%)</a:t>
                      </a:r>
                    </a:p>
                  </a:txBody>
                  <a:tcPr anchor="ctr">
                    <a:solidFill>
                      <a:srgbClr val="E8EE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2554</a:t>
                      </a:r>
                    </a:p>
                  </a:txBody>
                  <a:tcPr anchor="ctr">
                    <a:solidFill>
                      <a:srgbClr val="E8EE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+35 (+1%)</a:t>
                      </a:r>
                    </a:p>
                  </a:txBody>
                  <a:tcPr anchor="ctr">
                    <a:solidFill>
                      <a:srgbClr val="E8EEF5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launch_sim.py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336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~2000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C0392B"/>
                          </a:solidFill>
                          <a:latin typeface="Calibri"/>
                        </a:defRPr>
                      </a:pPr>
                      <a:r>
                        <a:t>+1664 (5x)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~100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278B5B"/>
                          </a:solidFill>
                          <a:latin typeface="Calibri"/>
                        </a:defRPr>
                      </a:pPr>
                      <a:r>
                        <a:t>-236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GEMV variants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C0392B"/>
                          </a:solidFill>
                          <a:latin typeface="Calibri"/>
                        </a:defRPr>
                      </a:pPr>
                      <a:r>
                        <a:t>+2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278B5B"/>
                          </a:solidFill>
                          <a:latin typeface="Calibri"/>
                        </a:defRPr>
                      </a:pPr>
                      <a:r>
                        <a:t>+1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Reduce functions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~12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C0392B"/>
                          </a:solidFill>
                          <a:latin typeface="Calibri"/>
                        </a:defRPr>
                      </a:pPr>
                      <a:r>
                        <a:t>+5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~8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278B5B"/>
                          </a:solidFill>
                          <a:latin typeface="Calibri"/>
                        </a:defRPr>
                      </a:pPr>
                      <a:r>
                        <a:t>+1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Debug exports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C0392B"/>
                          </a:solidFill>
                          <a:latin typeface="Calibri"/>
                        </a:defRPr>
                      </a:pPr>
                      <a:r>
                        <a:t>+6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278B5B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560320" cy="411480"/>
          </a:xfrm>
          <a:prstGeom prst="roundRect">
            <a:avLst/>
          </a:prstGeom>
          <a:solidFill>
            <a:srgbClr val="2B6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Key Findings &amp; Recommendations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2743200" cy="38100"/>
          </a:xfrm>
          <a:prstGeom prst="rect">
            <a:avLst/>
          </a:prstGeom>
          <a:solidFill>
            <a:srgbClr val="2B6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2B6CB3"/>
                </a:solidFill>
                <a:latin typeface="Calibri"/>
              </a:defRPr>
            </a:pPr>
            <a:r>
              <a:t>1. Radically different delta sizes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WSE-3-GQA: +47% CSL code (heavy refactor)</a:t>
            </a:r>
            <a:br/>
            <a:r>
              <a:t>WSE-3-GQA-cheng: +1% CSL code (lightweight patch)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2B6CB3"/>
                </a:solidFill>
                <a:latin typeface="Calibri"/>
              </a:defRPr>
            </a:pPr>
            <a:r>
              <a:t>2. Communication is the biggest delta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comm_pe.csl: +673 lines (+65%) for WSE-3-GQA</a:t>
            </a:r>
            <a:br/>
            <a:r>
              <a:t>vs only +51 lines (+5%) for GQA-cheng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2B6CB3"/>
                </a:solidFill>
                <a:latin typeface="Calibri"/>
              </a:defRPr>
            </a:pPr>
            <a:r>
              <a:t>3. Memory efficiency vs simplicity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Dimensional: K/V shrinks by GQA ratio (optimal)</a:t>
            </a:r>
            <a:br/>
            <a:r>
              <a:t>Replicated: K/V grows by n_kv_heads (costly)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2B6CB3"/>
                </a:solidFill>
                <a:latin typeface="Calibri"/>
              </a:defRPr>
            </a:pPr>
            <a:r>
              <a:t>4. WSE-3-GQA adds orthogonal features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KV cache management, variable-length attention,</a:t>
            </a:r>
            <a:br/>
            <a:r>
              <a:t>prefill support, debug instrumentation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2B6CB3"/>
                </a:solidFill>
                <a:latin typeface="Calibri"/>
              </a:defRPr>
            </a:pPr>
            <a:r>
              <a:t>5. Bug handling diverges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GQA-cheng fixes SILU + DOWN bugs from base</a:t>
            </a:r>
            <a:br/>
            <a:r>
              <a:t>WSE-3-GQA inherits them unchanged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2B6CB3"/>
                </a:solidFill>
                <a:latin typeface="Calibri"/>
              </a:defRPr>
            </a:pPr>
            <a:r>
              <a:t>6. RoPE regression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WSE-3-GQA comments out RoPE (strided-DSD bug)</a:t>
            </a:r>
            <a:br/>
            <a:r>
              <a:t>GQA-cheng preserves it from the base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737360"/>
            <a:ext cx="5303520" cy="4754880"/>
          </a:xfrm>
          <a:prstGeom prst="roundRect">
            <a:avLst/>
          </a:prstGeom>
          <a:solidFill>
            <a:srgbClr val="E8F5E9"/>
          </a:solidFill>
          <a:ln>
            <a:solidFill>
              <a:srgbClr val="278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200"/>
              </a:spcAft>
              <a:defRPr sz="2200" b="1">
                <a:solidFill>
                  <a:srgbClr val="278B5B"/>
                </a:solidFill>
                <a:latin typeface="Calibri"/>
              </a:defRPr>
            </a:pPr>
            <a:r>
              <a:t>Recommendations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600" b="1">
                <a:solidFill>
                  <a:srgbClr val="1A1A2E"/>
                </a:solidFill>
                <a:latin typeface="Calibri"/>
              </a:defRPr>
            </a:pPr>
            <a:r>
              <a:t>For Production:</a:t>
            </a: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WSE-3-GQA's dimensional approach is the right long-term strategy</a:t>
            </a: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Memory efficiency scales with GQA ratio</a:t>
            </a: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Less communication volume is critical at scale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8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400"/>
              </a:spcAft>
              <a:defRPr sz="1600" b="1">
                <a:solidFill>
                  <a:srgbClr val="1A1A2E"/>
                </a:solidFill>
                <a:latin typeface="Calibri"/>
              </a:defRPr>
            </a:pPr>
            <a:r>
              <a:t>Backport from GQA-cheng:</a:t>
            </a: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SILU iteration bug fix</a:t>
            </a: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DOWN weight shape fix</a:t>
            </a: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Re-enable RoPE (fix strided-DSD issue)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8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400"/>
              </a:spcAft>
              <a:defRPr sz="1600" b="1">
                <a:solidFill>
                  <a:srgbClr val="1A1A2E"/>
                </a:solidFill>
                <a:latin typeface="Calibri"/>
              </a:defRPr>
            </a:pPr>
            <a:r>
              <a:t>For Prototyping:</a:t>
            </a: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GQA-cheng is valuable as a rapid prototyping path</a:t>
            </a: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Minimal delta makes it easy to test GQA correctness</a:t>
            </a: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Use before investing in full dimensional refactor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560320" cy="411480"/>
          </a:xfrm>
          <a:prstGeom prst="roundRect">
            <a:avLst/>
          </a:prstGeom>
          <a:solidFill>
            <a:srgbClr val="2B6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HOST-SIDE HANDLING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Calibri"/>
              </a:defRPr>
            </a:pPr>
            <a:r>
              <a:t>Host-Side Data Structure: Q/O Permutation &amp; KV Tiling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2743200" cy="38100"/>
          </a:xfrm>
          <a:prstGeom prst="rect">
            <a:avLst/>
          </a:prstGeom>
          <a:solidFill>
            <a:srgbClr val="2B6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5486400" cy="4663440"/>
          </a:xfrm>
          <a:prstGeom prst="roundRect">
            <a:avLst/>
          </a:prstGeom>
          <a:solidFill>
            <a:srgbClr val="EEF4FB"/>
          </a:solidFill>
          <a:ln>
            <a:solidFill>
              <a:srgbClr val="2B6C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600"/>
              </a:spcAft>
              <a:defRPr sz="1800" b="1">
                <a:solidFill>
                  <a:srgbClr val="2B6CB3"/>
                </a:solidFill>
                <a:latin typeface="Calibri"/>
              </a:defRPr>
            </a:pPr>
            <a:r>
              <a:t>Q &amp; O Weight Column Permutation</a:t>
            </a:r>
          </a:p>
          <a:p>
            <a:pPr algn="ctr">
              <a:spcBef>
                <a:spcPts val="0"/>
              </a:spcBef>
              <a:spcAft>
                <a:spcPts val="800"/>
              </a:spcAft>
              <a:defRPr sz="1300" b="0">
                <a:solidFill>
                  <a:srgbClr val="666666"/>
                </a:solidFill>
                <a:latin typeface="Calibri"/>
              </a:defRPr>
            </a:pPr>
            <a:r>
              <a:t>Only needed in dimensional approach (WSE-3-GQA)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C0392B"/>
                </a:solidFill>
                <a:latin typeface="Calibri"/>
              </a:defRPr>
            </a:pPr>
            <a:r>
              <a:t>Problem: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Standard Llama Q layout: columns ordered by Q-head.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But on-chip, each PE's Q output must be split into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333333"/>
                </a:solidFill>
                <a:latin typeface="Calibri"/>
              </a:defRPr>
            </a:pPr>
            <a:r>
              <a:t>gqa_group_size contiguous kv_dim_p_pe slices,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each aligned with the KV-head's cache on that PE.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278B5B"/>
                </a:solidFill>
                <a:latin typeface="Calibri"/>
              </a:defRPr>
            </a:pPr>
            <a:r>
              <a:t>Solution: offline column reorder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100" b="0">
                <a:solidFill>
                  <a:srgbClr val="333333"/>
                </a:solidFill>
                <a:latin typeface="Consolas"/>
              </a:defRPr>
            </a:pPr>
            <a:r>
              <a:t>for _h in range(n_heads):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100" b="0">
                <a:solidFill>
                  <a:srgbClr val="333333"/>
                </a:solidFill>
                <a:latin typeface="Consolas"/>
              </a:defRPr>
            </a:pPr>
            <a:r>
              <a:t>  _kv_head = _h // gqa_group_size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100" b="0">
                <a:solidFill>
                  <a:srgbClr val="333333"/>
                </a:solidFill>
                <a:latin typeface="Consolas"/>
              </a:defRPr>
            </a:pPr>
            <a:r>
              <a:t>  _g = _h % gqa_group_size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100" b="0">
                <a:solidFill>
                  <a:srgbClr val="333333"/>
                </a:solidFill>
                <a:latin typeface="Consolas"/>
              </a:defRPr>
            </a:pPr>
            <a:r>
              <a:t>  for _s in range(pes_p_kv_head):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100" b="0">
                <a:solidFill>
                  <a:srgbClr val="C0392B"/>
                </a:solidFill>
                <a:latin typeface="Consolas"/>
              </a:defRPr>
            </a:pPr>
            <a:r>
              <a:t>    old = _h*head_dim + _s*kv_dim_p_pe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100" b="0">
                <a:solidFill>
                  <a:srgbClr val="278B5B"/>
                </a:solidFill>
                <a:latin typeface="Consolas"/>
              </a:defRPr>
            </a:pPr>
            <a:r>
              <a:t>    new = _kv*pes_p_kv*dim + _s*dim + _g*kv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333333"/>
                </a:solidFill>
                <a:latin typeface="Consolas"/>
              </a:defRPr>
            </a:pPr>
            <a:r>
              <a:t>    W_Q_perm[:,new:new+kv] = W_Q[:,old:old+kv]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333333"/>
                </a:solidFill>
                <a:latin typeface="Calibri"/>
              </a:defRPr>
            </a:pPr>
            <a:r>
              <a:t>Result per PE: Q output = [grp0|grp1|...|grp_{G-1}]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Each grp is kv_dim_p_pe contiguous elements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666666"/>
                </a:solidFill>
                <a:latin typeface="Calibri"/>
              </a:defRPr>
            </a:pPr>
            <a:r>
              <a:t>O weight rows reordered identically (transpose)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691640"/>
            <a:ext cx="5303520" cy="4663440"/>
          </a:xfrm>
          <a:prstGeom prst="roundRect">
            <a:avLst/>
          </a:prstGeom>
          <a:solidFill>
            <a:srgbClr val="FDF2E9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600"/>
              </a:spcAft>
              <a:defRPr sz="1800" b="1">
                <a:solidFill>
                  <a:srgbClr val="E67E22"/>
                </a:solidFill>
                <a:latin typeface="Calibri"/>
              </a:defRPr>
            </a:pPr>
            <a:r>
              <a:t>KV Cache: Interleaved Tiling</a:t>
            </a:r>
          </a:p>
          <a:p>
            <a:pPr algn="ctr">
              <a:spcBef>
                <a:spcPts val="0"/>
              </a:spcBef>
              <a:spcAft>
                <a:spcPts val="800"/>
              </a:spcAft>
              <a:defRPr sz="1300" b="0">
                <a:solidFill>
                  <a:srgbClr val="666666"/>
                </a:solidFill>
                <a:latin typeface="Calibri"/>
              </a:defRPr>
            </a:pPr>
            <a:r>
              <a:t>Custom tiling for asymmetric + batched + partial-fill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1">
                <a:solidFill>
                  <a:srgbClr val="333333"/>
                </a:solidFill>
                <a:latin typeface="Calibri"/>
              </a:defRPr>
            </a:pPr>
            <a:r>
              <a:t>Base: simple reshape-transpose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200" b="0">
                <a:solidFill>
                  <a:srgbClr val="666666"/>
                </a:solidFill>
                <a:latin typeface="Consolas"/>
              </a:defRPr>
            </a:pPr>
            <a:r>
              <a:t>XKCache[dim, seq_len] -&gt; reshape(P,..,P,..) -&gt; tile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400" b="1">
                <a:solidFill>
                  <a:srgbClr val="E67E22"/>
                </a:solidFill>
                <a:latin typeface="Calibri"/>
              </a:defRPr>
            </a:pPr>
            <a:r>
              <a:t>Dimensional: 3 new requirements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Asymmetric: kv_dim_p_pe per PE (not dim_p_pe)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Batched: [bsz, kv_dim, max_seq_len] with batch dim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Partial fill: only prefill_len tokens, rest zeroed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Interleaved: token t -&gt; PE row py = t % P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6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300"/>
              </a:spcAft>
              <a:defRPr sz="1400" b="1">
                <a:solidFill>
                  <a:srgbClr val="333333"/>
                </a:solidFill>
                <a:latin typeface="Calibri"/>
              </a:defRPr>
            </a:pPr>
            <a:r>
              <a:t>On-chip layout per PE: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Consolas"/>
              </a:defRPr>
            </a:pPr>
            <a:r>
              <a:t>K: [bsz, kv_dim_p_pe, max_seq_len_p_pe]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t>   feature-major (for Q @ K^T)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Consolas"/>
              </a:defRPr>
            </a:pPr>
            <a:r>
              <a:t>V: [bsz, max_seq_len_p_pe, kv_dim_p_pe]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t>   sequence-major (for score @ V)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333333"/>
                </a:solidFill>
                <a:latin typeface="Calibri"/>
              </a:defRPr>
            </a:pPr>
            <a:r>
              <a:t>Why interleaving: PE row py owns tokens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{py, py+P, py+2P, ...} so Y-axis softmax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reduction operates on distinct tokens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560320" cy="411480"/>
          </a:xfrm>
          <a:prstGeom prst="roundRect">
            <a:avLst/>
          </a:prstGeom>
          <a:solidFill>
            <a:srgbClr val="2B6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HOST-SIDE HANDLING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Calibri"/>
              </a:defRPr>
            </a:pPr>
            <a:r>
              <a:t>Host-Side: Transfer Sizes &amp; Complexity Trade-off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2743200" cy="38100"/>
          </a:xfrm>
          <a:prstGeom prst="rect">
            <a:avLst/>
          </a:prstGeom>
          <a:solidFill>
            <a:srgbClr val="2B6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91640"/>
          <a:ext cx="110642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200400"/>
                <a:gridCol w="3474720"/>
                <a:gridCol w="2743200"/>
              </a:tblGrid>
              <a:tr h="391885">
                <a:tc>
                  <a:txBody>
                    <a:bodyPr wrap="square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Symbol</a:t>
                      </a:r>
                    </a:p>
                  </a:txBody>
                  <a:tcPr anchor="ctr">
                    <a:solidFill>
                      <a:srgbClr val="2B6C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Base count_per_pe</a:t>
                      </a:r>
                    </a:p>
                  </a:txBody>
                  <a:tcPr anchor="ctr">
                    <a:solidFill>
                      <a:srgbClr val="2B6C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Dimensional count_per_pe</a:t>
                      </a:r>
                    </a:p>
                  </a:txBody>
                  <a:tcPr anchor="ctr">
                    <a:solidFill>
                      <a:srgbClr val="2B6C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Ratio (4:1 GQA)</a:t>
                      </a:r>
                    </a:p>
                  </a:txBody>
                  <a:tcPr anchor="ctr">
                    <a:solidFill>
                      <a:srgbClr val="2B6CB3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Q_weight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dim_p_pe x dim_p_pe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dim_p_pe x dim_p_pe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1x (same)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K_weight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dim_p_pe x dim_p_pe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dim_p_pe x kv_dim_p_pe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278B5B"/>
                          </a:solidFill>
                          <a:latin typeface="Calibri"/>
                        </a:defRPr>
                      </a:pPr>
                      <a:r>
                        <a:t>1/4 (4x smaller)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V_weight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dim_p_pe x dim_p_pe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dim_p_pe x kv_dim_p_pe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278B5B"/>
                          </a:solidFill>
                          <a:latin typeface="Calibri"/>
                        </a:defRPr>
                      </a:pPr>
                      <a:r>
                        <a:t>1/4 (4x smaller)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O_weight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dim_p_pe x dim_p_pe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dim_p_pe x dim_p_pe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1x (same)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XKCache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dim_p_pe x seq_len_p_pe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bsz x kv_dim_p_pe x max_seq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varies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1890"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XVCache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seq_len_p_pe x dim_p_pe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bsz x max_seq x kv_dim_p_pe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varies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4663440"/>
            <a:ext cx="11064240" cy="1737360"/>
          </a:xfrm>
          <a:prstGeom prst="roundRect">
            <a:avLst/>
          </a:prstGeom>
          <a:solidFill>
            <a:srgbClr val="FDF9ED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600"/>
              </a:spcAft>
              <a:defRPr sz="1700" b="1">
                <a:solidFill>
                  <a:srgbClr val="E67E22"/>
                </a:solidFill>
                <a:latin typeface="Calibri"/>
              </a:defRPr>
            </a:pPr>
            <a:r>
              <a:t>  Key Insight: Where the Complexity Lives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400" b="1">
                <a:solidFill>
                  <a:srgbClr val="333333"/>
                </a:solidFill>
                <a:latin typeface="Calibri"/>
              </a:defRPr>
            </a:pPr>
            <a:r>
              <a:t>  Host-side preprocessing (paid once at init):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300" b="0">
                <a:solidFill>
                  <a:srgbClr val="666666"/>
                </a:solidFill>
                <a:latin typeface="Calibri"/>
              </a:defRPr>
            </a:pPr>
            <a:r>
              <a:t>    Generalized asymmetric tile_weight_row()  |  Offline Q/O column permutation (4 nested loops)  |  Custom interleaved KV cache tiling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400" b="1">
                <a:solidFill>
                  <a:srgbClr val="278B5B"/>
                </a:solidFill>
                <a:latin typeface="Calibri"/>
              </a:defRPr>
            </a:pPr>
            <a:r>
              <a:t>  On-chip benefits (continuous during inference):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  4x smaller K/V buffers per PE  |  50% less QKV communication volume  |  No runtime head-mapping logic  |  Contiguous group slicing in score loops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2B6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A1A2E"/>
                </a:solidFill>
                <a:latin typeface="Calibri"/>
              </a:defRPr>
            </a:pPr>
            <a:r>
              <a:t>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2651760"/>
            <a:ext cx="3017520" cy="38100"/>
          </a:xfrm>
          <a:prstGeom prst="rect">
            <a:avLst/>
          </a:prstGeom>
          <a:solidFill>
            <a:srgbClr val="2B6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71600" y="3017520"/>
            <a:ext cx="4389120" cy="2286000"/>
          </a:xfrm>
          <a:prstGeom prst="roundRect">
            <a:avLst/>
          </a:prstGeom>
          <a:solidFill>
            <a:srgbClr val="EEF4FB"/>
          </a:solidFill>
          <a:ln>
            <a:solidFill>
              <a:srgbClr val="2B6C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800"/>
              </a:spcAft>
              <a:defRPr sz="2400" b="1">
                <a:solidFill>
                  <a:srgbClr val="2B6CB3"/>
                </a:solidFill>
                <a:latin typeface="Calibri"/>
              </a:defRPr>
            </a:pPr>
            <a:r>
              <a:t>WSE-3-GQA</a:t>
            </a:r>
          </a:p>
          <a:p>
            <a:pPr algn="ctr"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Heavy refactor (+47% code)</a:t>
            </a:r>
          </a:p>
          <a:p>
            <a:pPr algn="ctr"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Optimal memory efficiency</a:t>
            </a:r>
          </a:p>
          <a:p>
            <a:pPr algn="ctr">
              <a:spcBef>
                <a:spcPts val="0"/>
              </a:spcBef>
              <a:spcAft>
                <a:spcPts val="600"/>
              </a:spcAft>
              <a:defRPr sz="1800" b="1">
                <a:solidFill>
                  <a:srgbClr val="278B5B"/>
                </a:solidFill>
                <a:latin typeface="Calibri"/>
              </a:defRPr>
            </a:pPr>
            <a:r>
              <a:t>Right for production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3017520"/>
            <a:ext cx="4389120" cy="2286000"/>
          </a:xfrm>
          <a:prstGeom prst="roundRect">
            <a:avLst/>
          </a:prstGeom>
          <a:solidFill>
            <a:srgbClr val="FDF2E9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800"/>
              </a:spcAft>
              <a:defRPr sz="2400" b="1">
                <a:solidFill>
                  <a:srgbClr val="E67E22"/>
                </a:solidFill>
                <a:latin typeface="Calibri"/>
              </a:defRPr>
            </a:pPr>
            <a:r>
              <a:t>WSE-3-GQA-cheng</a:t>
            </a:r>
          </a:p>
          <a:p>
            <a:pPr algn="ctr"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Lightweight patch (+1% code)</a:t>
            </a:r>
          </a:p>
          <a:p>
            <a:pPr algn="ctr"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Preserves base structure</a:t>
            </a:r>
          </a:p>
          <a:p>
            <a:pPr algn="ctr">
              <a:spcBef>
                <a:spcPts val="0"/>
              </a:spcBef>
              <a:spcAft>
                <a:spcPts val="600"/>
              </a:spcAft>
              <a:defRPr sz="1800" b="1">
                <a:solidFill>
                  <a:srgbClr val="278B5B"/>
                </a:solidFill>
                <a:latin typeface="Calibri"/>
              </a:defRPr>
            </a:pPr>
            <a:r>
              <a:t>Right for prototyping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Calibri"/>
              </a:defRPr>
            </a:pPr>
            <a:r>
              <a:t>Both approaches have value -- combine GQA-cheng's bug fixes with WSE-3-GQA's architecture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